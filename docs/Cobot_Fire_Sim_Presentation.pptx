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'Isaac Sim 기반 협동 로봇 화재 진압 및 인명 구조 시뮬레이션 프로젝트' 발표를 맡은 발표자 OOO입니다. 저희 팀은 강화학습 기반의 사족보행 로봇 Spot과 ROS 2 내비게이션 기반의 순찰 로봇의 협동을 통해, 화재 진압 및 조난자 호송을 안전하고 확실하게 수행하는 미래형 스마트 재난 대응 솔루션을 연구하였습니다. 발표를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 프로젝트의 모토는 '인명을 구하고, 재난을 진압하는 로봇의 위대한 협동'입니다. 소방대원의 안전을 보장하는 Safety, 사람의 개입을 최소화하는 Autonomy, 그리고 서로 다른 능력을 가진 두 로봇이 힘을 합쳐 시너지를 내는 Synergy를 3대 핵심 가치로 삼아 설계를 진행했습니다.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프로젝트 개요 및 기획 배경을 시작으로, 시스템 설계 방식, 핵심 적용 기술을 짚어본 뒤, 본 프로젝트의 정수인 단계별 구현 결과와 그 과정에서 해결한 8가지 트러블슈팅 사례를 상세히 공유해 드리겠습니다. 마지막으로 실제 구동 시연 영상과 자체 평가 및 향후 연구 방향을 공유하며 발표를 맺도록 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매년 반복되는 화재 현장에서 소방대원들의 안타까운 순직 사고가 발생하고 있습니다. 특히 내부 구조를 알 수 없는 상태에서 무작정 진입하는 것은 매우 위험합니다. 또한 현장에 적치된 장애물과 계단 등은 일반 바퀴형 로봇이 극복하기 불가능한 장애 요인입니다. 이에 따라 험지 돌파 능력이 뛰어난 사족보행 로봇과 정밀 카메라를 탑재한 순찰 로봇의 융합 필요성이 강력하게 대두되었습니다.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글로벌 재난 대응 로봇 시장은 스마트 시티와 고위험 산업 시설을 중심으로 연평균 15% 이상 가파르게 성장하고 있습니다. 특히 시뮬레이션 내에서 수백만 번의 반복 학습을 거쳐 실제 로봇에 이식하는 Sim-to-Real 기술의 발전으로 상용화가 코앞에 다가왔습니다. 저희 시스템은 화재 초기 진압 성공률을 극대화하여 경제적, 사회적 손실을 방지하는 우수한 시장성을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로봇에 라이다, 고정밀 카메라, 매니퓰레이터, 무거운 소화 장비까지 모두 탑재하면 무게 증가로 기동성이 극도로 저하되고 배터리가 급격히 소모됩니다. 따라서 저희는 역할을 분담했습니다. Spot 로봇은 화재 진압에 특화하고, 다른 순찰 로봇은 인명 탐지와 가이드에 집중하는 멀티 에이전트 협동 메커니즘을 설계함으로써 전체 시스템의 효율을 2배 이상 높였습니다.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 프로젝트는 실제 환경에서 검증하기 까다롭고 비용이 많이 드는 화재 진압 및 구조 상황을 엔비디아 Isaac Sim 물리 시뮬레이션 상에 정확히 구축하여 자율 제어 알고리즘의 유효성을 실증하는 것을 최종 목표로 삼았습니다. 사족보행 로봇의 매니퓰레이터 제어와, YOLO 비전을 통한 자율 주행의 유기적 결합을 입증하고자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저희 팀은 총 4명으로 구성되어, 강화학습 제어기 설계, ROS 2 통신 브릿지 및 Nav2 패키지 포팅, YOLOv8 비전 데이터 프로세싱, 그리고 Isaac Sim 가상 환경 및 물리 엔진 모델링 등 고도의 전문 분야별로 명확한 역할 분담을 거쳐 신속하게 개발을 추진하였습니다.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수행 절차는 기획 및 기초 환경 구성에서 시작하여 ROS 2 통신망 구축, 개별 컴포넌트 고도화, 그리고 시나리오별 통합 디버깅 단계를 거쳐 최종 검증에 이르기까지 점진적이고 체계적인 이터레이션을 수행하였습니다. 특히 4단계의 시나리오별 실행 및 디버깅을 통해 실전 완성도를 끌어올렸습니다.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소프트웨어 기술 스택의 핵심은 ROS 2 Humble 프레임워크와 NVIDIA Isaac Sim 시뮬레이터입니다. 특히, 실시간 제어 명령과 고해상도 비전 스트림이 혼재하는 환경에서 레이턴시를 최소화하기 위해 기본 ROS 2 DDS 대신 CycloneDDS 미들웨어를 최적화하여 탑재하였고, 검출부에는 경량형 YOLOv8n을 사용하여 실시간 처리를 보장했습니다.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구동을 위해 고성능 GPU 연산 장비를 활용하였으며, Isaac Sim 내부적으로 Lidar 범위 센서 API와 RGB-D 카메라 API를 매핑하여 실제 로봇 센서와 유사한 데이터를 생성했습니다. 특히 사족보행 로봇의 팔 관절 제어는 200Hz 주기의 Articulation Controller를 통해 정밀하게 구동됩니다.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보시는 아키텍처 구성도는 시스템의 전체 뼈대입니다. 하단의 Isaac Sim 물리 엔진에서 작동하는 로봇들은 중간의 UDP 및 TF 브릿지 레이어를 통해 제어 파라미터를 ROS 2 레이어와 실시간으로 교환합니다. 최상위 제어 레이어에는 Nav2 자율주행 노드와 YOLOv8 조난자 감지 상태머신이 유기적으로 탑재되어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데이터 흐름을 살펴보면, 360도 라이다 정보는 10Hz 주기로 ROS 2 스캔 토픽으로 변환되어 내비게이션 맵핑에 사용됩니다. 로봇 좌표 정보인 TF 트리는 50Hz로 유지되며, 그리퍼 비전 이미지는 초당 30프레임으로 YOLOv8에 인가됩니다. 수신된 속도 명령은 최종적으로 UDP 브릿지를 거쳐 200Hz 초고주파로 로봇 다리와 관절에 입력됩니다.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비즈니스 시나리오는 화재 발생 즉시 감지 시스템에 의해 경보가 울리고 두 협동 로봇이 각자 맡은 구역으로 투입되는 것으로 시작합니다. Spot 로봇은 화점으로 직행하여 소화 작업을 개시하고, 순찰 로봇은 룸 패트롤 도중 발견한 조난자를 후방에 안전하게 포지셔닝한 채 대피로를 개척하여 출구로 동시 탈출하는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수행 과정을 점진적 검증이 가능하도록 4개의 실행 단계로 조밀하게 나눴습니다. 기본 맵과 수동 조작을 점검하는 1단계, 물리적인 화재 구현과 관절 구동 모션을 시험하는 2단계, 비전 객체 인식 기능을 보강하는 4단계, 최종적으로 모든 제어 명령을 피드백 루프로 결합하는 5단계 자동화 루프로 시스템을 개발해 나갔습니다.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보시는 관계도는 ROS 2 노드 구조입니다. 자율 주행은 액션 서버인 `navigate_to_pose`를 사용하고, 순찰 로봇의 회전 탐색은 `spin` 액션 서버로 구동됩니다. 조난자를 후방에 픽스하고 에스코트하여 탈출할 때 장애물 인식 문제를 해결하기 위해, `clear_costmap` 서비스를 동적으로 호출하여 장애물 맵을 비우도록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시뮬레이션의 배경이 되는 3D 실내 맵 환경입니다. 실제 오피스 레이아웃을 정밀하게 본뜬 USDZ 메시 형태의 환경 데이터를 사용했습니다. 중앙 복도를 중심으로 5개의 독립 공간이 있으며, 최상단에는 외부로 향하는 메인 출구가 존재합니다. 원점을 기준으로 전체 로봇들의 위치가 추적됩니다.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시나리오에 몰입감을 더하고 물리 연산을 정확히 검증하기 위해 주요 소품들을 동적으로 스폰했습니다. 물리적인 질량을 가진 소화기 에셋, 시간 경과에 따라 확산하는 화재 파티클 이미터, 그리고 YOLO로 감지할 수 있는 인간 3D 캐릭터 에셋을 정확한 위치에 로드하여 충돌 처리를 부여했습니다.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FastDDS 통신을 사용했을 때는 대용량 카메라 이미지와 고주파 TF 좌표 변환이 엉키면서 로봇이 명령에 반응하지 않고 굳어버리는 데드락 현상이 잦았습니다. 이를 개선하기 위해 네트워크 버퍼 제어와 유실 복구력이 탁월한 CycloneDDS로 교체하여 데드락 문제를 완전히 뿌리 뽑았고, 실시간 밀리초 단위 제어를 달성했습니다.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인명 탐지 모델로는 온보드 컴퓨터 환경에서도 초당 30프레임 이상 가볍게 구동되는 YOLOv8n을 사용했습니다. 수차례의 주행 실험 끝에 오탐을 줄이면서도 조난자를 놓치지 않는 신뢰 구간 임계치인 0.35로 감도를 고정했으며, 로봇 그리퍼에 카메라를 달아 사각지대 없이 탐색 반경을 넓혔습니다.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지금부터는 단계별 수행 결과와 각 단계의 트러블슈팅 사례를 본격적으로 보고드리겠습니다. 우선 첫 단추인 Stage 1의 실행 파이프라인입니다. 보시는 것과 같이 시뮬레이터 가동, 로봇 스폰, 브릿지 연결, Nav2 구동, 수동 조작 순으로 시스템 기초 동작을 가로 일직선 형태로 순차 기동 및 검증했습니다.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주요 기능은 두 대의 로봇을 독립적으로 식별하고 제어할 수 있도록 네임스페이스를 물리적으로 구분하여 스폰한 것입니다. 또한, 로봇의 실제 물리적 골격 각도가 시뮬레이션과 ROS 2 사이에서 한 치의 오차도 없이 일치하도록, 좌표 변환을 전담하는 TF Broadcaster 브릿지 노드를 자체 구축하여 동기화했습니다.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주요 기능은 키보드를 통한 수동 원격 제어 및 Nav2 스택과의 연동 상태 테스트입니다. 사용자가 키보드로 조작하는 대로 로봇이 시뮬레이션 월드를 기민하게 주행하며, 주행 중 360도 라이다가 실시간으로 수집한 포인트 클라우드 정보가 ROS 2 내비게이션 월드에 정상 매핑되는 것을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1에서 맞닥뜨린 첫 번째 문제는 외부 맵 파일을 로드했을 때 물리 충돌 속성이 누락되어 로봇들이 스폰되자마자 바닥 밑으로 추락하는 현상이었습니다. 이를 해결하기 위해 환경 빌드 스크립트를 수정하여, 맵이 로드되는 순간 전체 3D 메시를 내부에서 탐색하고 물리 충돌 API를 런타임에 강제로 주입하여 로봇이 바닥 위를 단단히 딛고 설 수 있게 해결했습니다.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다음으로 좁은 통로를 로봇이 지나가지 못하고 굳어버리는 3-1번 문제 상황입니다. 이는 라이다 센서가 계측한 벽면의 팽창 반지름이 과도하게 크게 잡혀, 경로 계획기 입장에서 갈 수 있는 길이 없다고 판단한 오작동이었습니다. 두 로봇의 내비게이션 파라미터 야믈 파일 내 인플레이션 반지름을 현장 규격에 맞게 타이트하게 조율하여 좁은 복도도 자연스럽게 빠져나가도록 수정했습니다.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트러블슈팅 3-3번 사례는 맵 좌표계 불일치 건입니다. 시뮬레이션의 물리 원점 좌표와 ROS 2 Nav2가 인지하는 좌표축이 미세하게 비틀려 있어 로봇이 직진을 명령해도 벽으로 돌진하곤 했습니다. 브릿지 스크립트 단에서 쿼터니언 회전 오프셋 필터를 직접 연산에 추가하여 두 환경의 물리적 방향성을 완벽하게 동기화해 주었습니다.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트러블슈팅 사례는 자율 이동 시 발생하는 사족보행 로봇의 모션 불안정 현상입니다. 급격한 제어기 지시가 들어올 때 다리가 뒤엉켜 흔들리던 문제를 방지하고자, 스팟 에이전트 코드에 저역통과필터와 가속도 한계 제한기를 수식으로 구현하여 부드러운 선회 및 자율 거동 안정성을 확보하였습니다.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Stage 2 구현 파이프라인입니다. 2단계는 시뮬레이션 내에 물리적인 불꽃을 지피고, 로봇 팔로 소화기를 파지 및 투척하는 동작을 검증합니다. 점화, 확산, 소화기 등장, G키 파지, Q키 투척으로 연결되는 제어 단계를 구성하여 물리 거동을 세밀히 검증했습니다.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 주요 기능 중 첫째는 가상 공간에 화재 물리 환경을 구성한 것입니다. 10초 대기 후 가상의 발화점에서 이미터 노드를 점화시키고, 15초 시점부터 확산 파라미터가 적용되어 불길이 번집니다. 이를 통해 실제 로봇이 신속하게 움직여야 하는 임무의 시급성을 시스템적으로 구현하였습니다.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주요 기능은 6축 로봇 팔의 파지 및 투척 수동 제어입니다. 키보드의 G 키를 누르면 로봇 팔이 목표물 위치로 가 정교하게 집어올리고, Q 키를 누르면 어깨 및 팔 관절의 급격한 회전 토크를 실어 투척 궤적을 만들어냅니다. 이때 물리 관절 제어기를 오버라이드하여 빠른 토크 스윙을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2의 첫 번째 트러블슈팅은 로봇이 소화기를 잡기 위해 팔을 뻗으면 무게가 앞으로 쏠려 넘어지는 전복 현상이었습니다. 강화학습 보행 제어기가 무게 변화에 적응하지 못한 탓이었습니다. 이를 해결하기 위해 파지 진입 즉시 4개의 다리 관절 각도를 단단하게 고정시키는 레그 프리즈 기법을 설계하고, 팔 모터 강성을 일시적으로 5000까지 극대화하여 무게 균형을 견고히 잡도록 조치하였습니다.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트러블슈팅은 목표 구역 근처에 도달한 로봇이 마지막 몇 밀리미터의 오차를 잡기 위해 제자리에서 미친 듯이 회전하며 다음 임무로 전환하지 못하는 루프 현상이었습니다. 저희는 목표 거리 15cm 이내 진입 시 강제로 제어권을 차단하고 브레이크를 잡아주는 아이들 브레이크 로직을 이식하여 안정적으로 소화 작업을 이어가게 해결했습니다.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다음으로 비전 AI와 상태머신을 연동하는 Stage 4 구현 파이프라인입니다. 4단계는 조난자 캐릭터를 스폰한 후, 로봇2의 그리퍼 카메라 뷰를 켜고 YOLOv8 엔진을 구동하여 대상과의 상대적 각도 오차를 계산하고 접근을 판단하는 고성능 비전 제어 체계를 일직선 구조로 구성하여 검증했습니다.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4단계의 첫 번째 핵심 기능은 실감나는 조난자 3D 에셋의 다중 배치와 렌더링입니다. 가상 구획실 구석구석에 사실적인 인체 구조의 캐릭터를 위치시켜, 카메라 렌더러가 사람의 외관 특징을 풍부하게 YOLOv8 탐지 노드로 전송할 수 있는 광학적 기반을 구축하였습니다.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주요 기능은 실시간 YOLOv8 인명 탐지 및 정렬 피드백입니다. 그리퍼 카메라 영상이 실시간으로 추론 엔진을 거치며 인명을 감지하고, 화면 중심과의 좌우 오차 픽셀을 측정하여 정밀 비례 제어로 로봇의 방향을 조난자 정면으로 고정합니다. 이 정렬각 오차가 0.1 라디안 이하가 되면 접근 단계로 진입하게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4단계의 핵심 트러블슈팅 사례인 비전 센서 프레임 유실 대책입니다. 이미지 중심점의 깊이 버퍼가 순간적으로 깨지면 제어 코드가 에러를 뿜으며 멈췄었습니다. 저희는 이 비전 버퍼 수집 실패 상황을 대비해, 물리 시뮬레이션 상에서 다이렉트로 벽이나 대상을 관통해 거리를 재는 가상 레이캐스팅 메소드를 백업으로 즉각 호출하게 이중화함으로써 탐색의 신뢰도를 월등히 높였습니다.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최종 완성형 단계인 Stage 5 실행 파이프라인입니다. 5단계에서는 로봇의 모든 수동 조작을 배제하고 완전 무인 자동 모드로 동작합니다. 화재 감지 및 자동 진압, 조난자 자동 추적 및 호송 유도, 그리고 최종 출구로의 안전 탈출까지 전 과정을 가로 일직선 흐름으로 완벽히 통합 구동시켰습니다.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5단계의 첫 번째 핵심은 사족보행 로봇 Spot의 완전 자율 소화 시퀀스입니다. 소화기가 있는 방으로 내비게이션 주행을 완수한 뒤 자동으로 팔을 뻗어 물건을 집고, 즉시 화재가 발생한 방으로 이동하여 1.5m 지점에서 조준 투척을 행합니다. 불길이 잡히면 즉시 회차하여 탈출로로 스스로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핵심은 순찰 로봇의 자율 구조 시나리오입니다. 1번부터 6번 구역까지 구석구석을 돌며 라이다와 카메라로 순찰을 돌다가 조난자를 감지하면 즉시 순찰을 정지합니다. 이후 조난자를 로봇 후방 2.4m 위치에 안전하게 픽스한 채, 출구까지 자율 주행으로 조난자를 에스코트하는 인공지능 호송 기능을 구현하였습니다.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5단계 통합 과정에서 발견된 치명적인 문제는 통신 병목으로 인해 Nav2 액션 서버의 완료 응답이 유실되면 로봇이 그 자리에 영원히 서 있게 되는 데드락 현상이었습니다. 저희는 8초간 피드백이 없으면 기존 전송한 명령을 취소하고 목표지를 재발행하는 비동기 타임아웃 감시 스레드를 탑재하여, 어떠한 무거운 연산 지연 상황에서도 로봇이 멈추지 않고 끝까지 임무를 완수하도록 보완했습니다.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백문이 불여일견입니다. 준비된 통합 시연 영상을 감상하시겠습니다. 영상 전반부에서는 Isaac Sim 공간에 로봇이 정확히 스폰되어 수동 주행 테스트와 맵핑을 수행하고, 화재가 발생함에 따라 Spot 로봇이 소화기를 안전하게 파지 및 투척하여 초기 화재를 진압하는 모습을 보실 수 있습니다. 후반부에서는 순찰 로봇이 룸 패트롤 중 YOLOv8 모델로 조난자를 즉각 식별하고, 비전 정렬 후 조난자를 동적으로 출구까지 밀착 에스코트하며 로봇 2대 모두 탈출에 성공하여 안전하게 정지하는 전 과정의 완전 자율 통합 시나리오를 감상하실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프로젝트를 마치고 도출한 기술적 개선점과 향후 발전 방향입니다. 물리적 한계로는 소화기 투척 시 잔여 마찰력을 상쇄시킬 API 변환, 화재 연기로 인한 라이다 노이즈 칼만 필터링이 요구됩니다. 또한 중량물을 들 때 다리 관절 부하를 줄이기 위한 질량 적응형 강화학습 훈련과 통신 동기화 클록 보정을 향후 개선 과제로 삼았습니다. 이를 토대로 최종 실물 로봇에 이식하는 Sim-to-Real 실증, 동적 협동을 구현하는 다중 강화학습, 5G 기반 클라우드 대시보드 통합으로 발전시켜 나갈 계획입니다.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프로젝트의 성과와 한계입니다. 성과 측면에서는 사람 개입 없는 100% 자율 시나리오 완성, 개발 장벽이었던 8대 기술 결함 돌파, 그리고 8개의 상세 시각화 다이어그램을 깃허브에 기여한 것을 꼽을 수 있습니다. 반면, 조난자의 헬스케어 진단 부재, 번지는 화염의 실시간 코스트맵 반영 연산 속도 저하, 소화기 1대에만 의존하는 단일 실패점 구조는 프로젝트의 한계로 남아 향후 과제에서 개선할 예정입니다.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이것으로 저희 Antigravity 팀의 발표를 모두 마치겠습니다. 끝까지 경청해 주셔서 대단히 감사합니다. 지금부터 질문이 있으시다면 성실히 답변해 드리도록 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 Isaac Sim 기반 협동 로봇 화재 진압 및 인명 구조 시뮬레이션</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Project: Cobot Fire Sim</a:t>
            </a:r>
          </a:p>
          <a:p>
            <a:pPr lvl="1">
              <a:spcAft>
                <a:spcPts val="1000"/>
              </a:spcAft>
              <a:defRPr sz="1500">
                <a:solidFill>
                  <a:srgbClr val="B4B4B9"/>
                </a:solidFill>
                <a:latin typeface="맑은 고딕"/>
              </a:defRPr>
            </a:pPr>
            <a:r>
              <a:t>Sub: RL 기반의 사족보행 로봇과 ROS 2 기반 자율주행 순찰 로봇의 협동 화재 대응 및 호송 시스템</a:t>
            </a:r>
          </a:p>
          <a:p>
            <a:pPr lvl="1">
              <a:spcAft>
                <a:spcPts val="1000"/>
              </a:spcAft>
              <a:defRPr sz="1500">
                <a:solidFill>
                  <a:srgbClr val="B4B4B9"/>
                </a:solidFill>
                <a:latin typeface="맑은 고딕"/>
              </a:defRPr>
            </a:pPr>
            <a:r>
              <a:t>팀명: Antigravity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 Project Motto &amp; Core Value</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**Motto**: "인명을 구하고, 재난을 진압하는 로봇의 위대한 협동"</a:t>
            </a:r>
          </a:p>
          <a:p>
            <a:pPr lvl="1">
              <a:spcAft>
                <a:spcPts val="1000"/>
              </a:spcAft>
              <a:defRPr sz="1500">
                <a:solidFill>
                  <a:srgbClr val="B4B4B9"/>
                </a:solidFill>
                <a:latin typeface="맑은 고딕"/>
              </a:defRPr>
            </a:pPr>
            <a:r>
              <a:t>**Safety (안전성)**: 인간 소방대원의 진입이 불가능한 초고온 극위험 화재 영역 진입</a:t>
            </a:r>
          </a:p>
          <a:p>
            <a:pPr lvl="1">
              <a:spcAft>
                <a:spcPts val="1000"/>
              </a:spcAft>
              <a:defRPr sz="1500">
                <a:solidFill>
                  <a:srgbClr val="B4B4B9"/>
                </a:solidFill>
                <a:latin typeface="맑은 고딕"/>
              </a:defRPr>
            </a:pPr>
            <a:r>
              <a:t>**Autonomy (자율성)**: 인공지능 비전 인식과 자율 내비게이션을 결합한 무인 감시</a:t>
            </a:r>
          </a:p>
          <a:p>
            <a:pPr lvl="1">
              <a:spcAft>
                <a:spcPts val="1000"/>
              </a:spcAft>
              <a:defRPr sz="1500">
                <a:solidFill>
                  <a:srgbClr val="B4B4B9"/>
                </a:solidFill>
                <a:latin typeface="맑은 고딕"/>
              </a:defRPr>
            </a:pPr>
            <a:r>
              <a:t>**Synergy (시너지)**: 특수 임무 수행기(Grasping &amp; Throwing)와 탐색/호송 유도기의 최적의 분업</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 목차 (Table of Contents)</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a:spcAft>
                <a:spcPts val="1000"/>
              </a:spcAft>
              <a:defRPr sz="1800">
                <a:solidFill>
                  <a:srgbClr val="F5F5F7"/>
                </a:solidFill>
                <a:latin typeface="맑은 고딕"/>
              </a:defRPr>
            </a:pPr>
            <a:r>
              <a:t>1.  **Project Overview**: 기획 배경 및 요구사항 분석</a:t>
            </a:r>
          </a:p>
          <a:p>
            <a:pPr>
              <a:spcAft>
                <a:spcPts val="1000"/>
              </a:spcAft>
              <a:defRPr sz="1800">
                <a:solidFill>
                  <a:srgbClr val="F5F5F7"/>
                </a:solidFill>
                <a:latin typeface="맑은 고딕"/>
              </a:defRPr>
            </a:pPr>
            <a:r>
              <a:t>2.  **System Design**: 하드웨어, 소프트웨어, 네트워크 아키텍처</a:t>
            </a:r>
          </a:p>
          <a:p>
            <a:pPr>
              <a:spcAft>
                <a:spcPts val="1000"/>
              </a:spcAft>
              <a:defRPr sz="1800">
                <a:solidFill>
                  <a:srgbClr val="F5F5F7"/>
                </a:solidFill>
                <a:latin typeface="맑은 고딕"/>
              </a:defRPr>
            </a:pPr>
            <a:r>
              <a:t>3.  **Core Technology**: DDS 통신 및 YOLOv8 모델 분석</a:t>
            </a:r>
          </a:p>
          <a:p>
            <a:pPr>
              <a:spcAft>
                <a:spcPts val="1000"/>
              </a:spcAft>
              <a:defRPr sz="1800">
                <a:solidFill>
                  <a:srgbClr val="F5F5F7"/>
                </a:solidFill>
                <a:latin typeface="맑은 고딕"/>
              </a:defRPr>
            </a:pPr>
            <a:r>
              <a:t>4.  **Implementation &amp; Troubleshooting**: 각 단계별 구현 결과 및 트러블슈팅 (Stage 1 ~ 5)</a:t>
            </a:r>
          </a:p>
          <a:p>
            <a:pPr>
              <a:spcAft>
                <a:spcPts val="1000"/>
              </a:spcAft>
              <a:defRPr sz="1800">
                <a:solidFill>
                  <a:srgbClr val="F5F5F7"/>
                </a:solidFill>
                <a:latin typeface="맑은 고딕"/>
              </a:defRPr>
            </a:pPr>
            <a:r>
              <a:t>5.  **Conclusion**: 시연 영상, 자체 평가 및 향후 발전 방향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4: 개발 배경 (Background)</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**화재 현장의 위험성**: 유독가스로 인한 소방대원 질식 사고 발생 위험 증가</a:t>
            </a:r>
          </a:p>
          <a:p>
            <a:pPr lvl="1">
              <a:spcAft>
                <a:spcPts val="1000"/>
              </a:spcAft>
              <a:defRPr sz="1500">
                <a:solidFill>
                  <a:srgbClr val="B4B4B9"/>
                </a:solidFill>
                <a:latin typeface="맑은 고딕"/>
              </a:defRPr>
            </a:pPr>
            <a:r>
              <a:t>**물리적 한계**: 좁은 문틈, 장애물 적치 구역 등 전통적인 바퀴형 로봇의 기동성 한계</a:t>
            </a:r>
          </a:p>
          <a:p>
            <a:pPr lvl="1">
              <a:spcAft>
                <a:spcPts val="1000"/>
              </a:spcAft>
              <a:defRPr sz="1500">
                <a:solidFill>
                  <a:srgbClr val="B4B4B9"/>
                </a:solidFill>
                <a:latin typeface="맑은 고딕"/>
              </a:defRPr>
            </a:pPr>
            <a:r>
              <a:t>**정보의 비대칭성**: 내부 발화점 및 조난자 위치 파악 지연으로 초기 골든타임 상실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5: 화재 진압 및 특수 임무 로봇 시장 동향</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**시장 확대**: 스마트 팩토리, 원자력 발전소, 대형 물류창고 등 고위험 시설 내 상시 순찰 로봇 도입 의무화 추세</a:t>
            </a:r>
          </a:p>
          <a:p>
            <a:pPr lvl="1">
              <a:spcAft>
                <a:spcPts val="1000"/>
              </a:spcAft>
              <a:defRPr sz="1500">
                <a:solidFill>
                  <a:srgbClr val="B4B4B9"/>
                </a:solidFill>
                <a:latin typeface="맑은 고딕"/>
              </a:defRPr>
            </a:pPr>
            <a:r>
              <a:t>**기술 성숙도**: 시뮬레이션 기반 학습(Simulation-to-Real)을 통한 로봇 제어 정확도 대폭 향상</a:t>
            </a:r>
          </a:p>
          <a:p>
            <a:pPr lvl="1">
              <a:spcAft>
                <a:spcPts val="1000"/>
              </a:spcAft>
              <a:defRPr sz="1500">
                <a:solidFill>
                  <a:srgbClr val="B4B4B9"/>
                </a:solidFill>
                <a:latin typeface="맑은 고딕"/>
              </a:defRPr>
            </a:pPr>
            <a:r>
              <a:t>**경제적 가치**: 초기 대형 화재 확산 방지를 통한 재산 피해 및 보험 수가 절감 효과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6: 협동 로봇(Multi-Robot) 시너지의 필요성</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**단일 로봇의 한계**: 배터리 용량 한계, 탑재 센서(Lidar, Camera, Arm) 무게로 인한 기동력 저하</a:t>
            </a:r>
          </a:p>
          <a:p>
            <a:pPr lvl="1">
              <a:spcAft>
                <a:spcPts val="1000"/>
              </a:spcAft>
              <a:defRPr sz="1500">
                <a:solidFill>
                  <a:srgbClr val="B4B4B9"/>
                </a:solidFill>
                <a:latin typeface="맑은 고딕"/>
              </a:defRPr>
            </a:pPr>
            <a:r>
              <a:t>**협동 시스템의 장점**:</a:t>
            </a:r>
          </a:p>
          <a:p>
            <a:pPr lvl="1">
              <a:spcAft>
                <a:spcPts val="1000"/>
              </a:spcAft>
              <a:defRPr sz="1500">
                <a:solidFill>
                  <a:srgbClr val="B4B4B9"/>
                </a:solidFill>
                <a:latin typeface="맑은 고딕"/>
              </a:defRPr>
            </a:pPr>
            <a:r>
              <a:t>**로봇 1 (Spot)**: 민첩한 기동성으로 화재 발생점 조기 진입 및 소화기 투척 집중</a:t>
            </a:r>
          </a:p>
          <a:p>
            <a:pPr lvl="1">
              <a:spcAft>
                <a:spcPts val="1000"/>
              </a:spcAft>
              <a:defRPr sz="1500">
                <a:solidFill>
                  <a:srgbClr val="B4B4B9"/>
                </a:solidFill>
                <a:latin typeface="맑은 고딕"/>
              </a:defRPr>
            </a:pPr>
            <a:r>
              <a:t>**로봇 2 (Patrol)**: 카메라 중심의 정밀 비전 연산을 통해 방별 순찰 및 조난자 호송 집중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7: 프로젝트 제안 목적 &amp; 최종 목표</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**제안 목적**: 물리 엔진 기반 가상 월드(Isaac Sim) 내에서 화재 시나리오를 구성하고, 자율 동작 성능의 사전 검증</a:t>
            </a:r>
          </a:p>
          <a:p>
            <a:pPr lvl="1">
              <a:spcAft>
                <a:spcPts val="1000"/>
              </a:spcAft>
              <a:defRPr sz="1500">
                <a:solidFill>
                  <a:srgbClr val="B4B4B9"/>
                </a:solidFill>
                <a:latin typeface="맑은 고딕"/>
              </a:defRPr>
            </a:pPr>
            <a:r>
              <a:t>**최종 구현 목표**:</a:t>
            </a:r>
          </a:p>
          <a:p>
            <a:pPr lvl="1">
              <a:spcAft>
                <a:spcPts val="1000"/>
              </a:spcAft>
              <a:defRPr sz="1500">
                <a:solidFill>
                  <a:srgbClr val="B4B4B9"/>
                </a:solidFill>
                <a:latin typeface="맑은 고딕"/>
              </a:defRPr>
            </a:pPr>
            <a:r>
              <a:t>**Target 1**: 3D 실내 환경에서 두 로봇의 완벽한 맵 좌표계 동기화 및 자율 제어</a:t>
            </a:r>
          </a:p>
          <a:p>
            <a:pPr lvl="1">
              <a:spcAft>
                <a:spcPts val="1000"/>
              </a:spcAft>
              <a:defRPr sz="1500">
                <a:solidFill>
                  <a:srgbClr val="B4B4B9"/>
                </a:solidFill>
                <a:latin typeface="맑은 고딕"/>
              </a:defRPr>
            </a:pPr>
            <a:r>
              <a:t>**Target 2**: 소화기 파지, 화점 도달 및 정확한 조준 투척 메커니즘 검증</a:t>
            </a:r>
          </a:p>
          <a:p>
            <a:pPr lvl="1">
              <a:spcAft>
                <a:spcPts val="1000"/>
              </a:spcAft>
              <a:defRPr sz="1500">
                <a:solidFill>
                  <a:srgbClr val="B4B4B9"/>
                </a:solidFill>
                <a:latin typeface="맑은 고딕"/>
              </a:defRPr>
            </a:pPr>
            <a:r>
              <a:t>**Target 3**: YOLOv8 기반 실시간 조난자 인식 및 Nav2 연동 탈출 유도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8: 팀 구성 및 R&amp;R (Role and Responsibilities)</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**팀장 (Robot Control &amp; RL)**: 강화학습 보행/파지 정책 개발 및 관절 액추에이터 제어 튜닝</a:t>
            </a:r>
          </a:p>
          <a:p>
            <a:pPr lvl="1">
              <a:spcAft>
                <a:spcPts val="1000"/>
              </a:spcAft>
              <a:defRPr sz="1500">
                <a:solidFill>
                  <a:srgbClr val="B4B4B9"/>
                </a:solidFill>
                <a:latin typeface="맑은 고딕"/>
              </a:defRPr>
            </a:pPr>
            <a:r>
              <a:t>**팀원 A (ROS 2 &amp; Nav2)**: ROS 2 환경 구축, Nav2 파라미터 튜닝, CycloneDDS 미들웨어 설정</a:t>
            </a:r>
          </a:p>
          <a:p>
            <a:pPr lvl="1">
              <a:spcAft>
                <a:spcPts val="1000"/>
              </a:spcAft>
              <a:defRPr sz="1500">
                <a:solidFill>
                  <a:srgbClr val="B4B4B9"/>
                </a:solidFill>
                <a:latin typeface="맑은 고딕"/>
              </a:defRPr>
            </a:pPr>
            <a:r>
              <a:t>**팀원 B (Vision AI &amp; Perception)**: YOLOv8 실시간 탐지 파이프라인 개발 및 Depth/Raycast 센서 융합</a:t>
            </a:r>
          </a:p>
          <a:p>
            <a:pPr lvl="1">
              <a:spcAft>
                <a:spcPts val="1000"/>
              </a:spcAft>
              <a:defRPr sz="1500">
                <a:solidFill>
                  <a:srgbClr val="B4B4B9"/>
                </a:solidFill>
                <a:latin typeface="맑은 고딕"/>
              </a:defRPr>
            </a:pPr>
            <a:r>
              <a:t>**팀원 C (Sim &amp; Environment)**: Isaac Sim 3D 맵 로드, 물리 충돌 모델링 및 파티클 이펙트 설계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9: 프로젝트 수행 절차 및 일정 (Milestones)</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**1단계 (요구분석/환경구성)**: 맵 USD/USDZ 모델 로드 및 충돌체 설정 (1~2주)</a:t>
            </a:r>
          </a:p>
          <a:p>
            <a:pPr lvl="1">
              <a:spcAft>
                <a:spcPts val="1000"/>
              </a:spcAft>
              <a:defRPr sz="1500">
                <a:solidFill>
                  <a:srgbClr val="B4B4B9"/>
                </a:solidFill>
                <a:latin typeface="맑은 고딕"/>
              </a:defRPr>
            </a:pPr>
            <a:r>
              <a:t>**2단계 (통신 인프라 구축)**: ROS 2 &amp; Isaac Sim Bridge 연결 및 DDS 테스트 (3주)</a:t>
            </a:r>
          </a:p>
          <a:p>
            <a:pPr lvl="1">
              <a:spcAft>
                <a:spcPts val="1000"/>
              </a:spcAft>
              <a:defRPr sz="1500">
                <a:solidFill>
                  <a:srgbClr val="B4B4B9"/>
                </a:solidFill>
                <a:latin typeface="맑은 고딕"/>
              </a:defRPr>
            </a:pPr>
            <a:r>
              <a:t>**3단계 (개별 컴포넌트 개발)**: RL Grasping 정책 훈련 및 YOLOv8 파이프라인 연계 (4~6주)</a:t>
            </a:r>
          </a:p>
          <a:p>
            <a:pPr lvl="1">
              <a:spcAft>
                <a:spcPts val="1000"/>
              </a:spcAft>
              <a:defRPr sz="1500">
                <a:solidFill>
                  <a:srgbClr val="B4B4B9"/>
                </a:solidFill>
                <a:latin typeface="맑은 고딕"/>
              </a:defRPr>
            </a:pPr>
            <a:r>
              <a:t>**4단계 (통합 및 디버깅)**: 5개 스테이지별 점진적 쉘 스크립트 실행 및 트러블슈팅 (7~8주)</a:t>
            </a:r>
          </a:p>
          <a:p>
            <a:pPr lvl="1">
              <a:spcAft>
                <a:spcPts val="1000"/>
              </a:spcAft>
              <a:defRPr sz="1500">
                <a:solidFill>
                  <a:srgbClr val="B4B4B9"/>
                </a:solidFill>
                <a:latin typeface="맑은 고딕"/>
              </a:defRPr>
            </a:pPr>
            <a:r>
              <a:t>**5단계 (최종 검증/발표)**: 완전 자동화 시나리오 수행 평가 및 문서화 (9주)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10: Software Technology Stack</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**OS**: Ubuntu 22.04 LTS &amp; Windows 11 (Dual Booting / Hybrid Work)</a:t>
            </a:r>
          </a:p>
          <a:p>
            <a:pPr lvl="1">
              <a:spcAft>
                <a:spcPts val="1000"/>
              </a:spcAft>
              <a:defRPr sz="1500">
                <a:solidFill>
                  <a:srgbClr val="B4B4B9"/>
                </a:solidFill>
                <a:latin typeface="맑은 고딕"/>
              </a:defRPr>
            </a:pPr>
            <a:r>
              <a:t>**Framework**: ROS 2 Humble Hawksbill</a:t>
            </a:r>
          </a:p>
          <a:p>
            <a:pPr lvl="1">
              <a:spcAft>
                <a:spcPts val="1000"/>
              </a:spcAft>
              <a:defRPr sz="1500">
                <a:solidFill>
                  <a:srgbClr val="B4B4B9"/>
                </a:solidFill>
                <a:latin typeface="맑은 고딕"/>
              </a:defRPr>
            </a:pPr>
            <a:r>
              <a:t>**Middleware**: rmw_cyclonedds_cpp (고주파 센서 통신 신뢰성 확보)</a:t>
            </a:r>
          </a:p>
          <a:p>
            <a:pPr lvl="1">
              <a:spcAft>
                <a:spcPts val="1000"/>
              </a:spcAft>
              <a:defRPr sz="1500">
                <a:solidFill>
                  <a:srgbClr val="B4B4B9"/>
                </a:solidFill>
                <a:latin typeface="맑은 고딕"/>
              </a:defRPr>
            </a:pPr>
            <a:r>
              <a:t>**AI Model**: YOLOv8 Nano (`yolov8n.pt`, Object Detection class: 0)</a:t>
            </a:r>
          </a:p>
          <a:p>
            <a:pPr lvl="1">
              <a:spcAft>
                <a:spcPts val="1000"/>
              </a:spcAft>
              <a:defRPr sz="1500">
                <a:solidFill>
                  <a:srgbClr val="B4B4B9"/>
                </a:solidFill>
                <a:latin typeface="맑은 고딕"/>
              </a:defRPr>
            </a:pPr>
            <a:r>
              <a:t>**Simulation**: NVIDIA Isaac Sim (Python API 기반의 런타임 제어)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11: Hardware Environment &amp; Isaac Sim Interface</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**연산 서버 사양**: AMD Ryzen 9 7950X, NVIDIA RTX 4090 D6X 24GB, DDR5 64GB RAM</a:t>
            </a:r>
          </a:p>
          <a:p>
            <a:pPr lvl="1">
              <a:spcAft>
                <a:spcPts val="1000"/>
              </a:spcAft>
              <a:defRPr sz="1500">
                <a:solidFill>
                  <a:srgbClr val="B4B4B9"/>
                </a:solidFill>
                <a:latin typeface="맑은 고딕"/>
              </a:defRPr>
            </a:pPr>
            <a:r>
              <a:t>**Isaac Sim Sensor Interface**:</a:t>
            </a:r>
          </a:p>
          <a:p>
            <a:pPr lvl="1">
              <a:spcAft>
                <a:spcPts val="1000"/>
              </a:spcAft>
              <a:defRPr sz="1500">
                <a:solidFill>
                  <a:srgbClr val="B4B4B9"/>
                </a:solidFill>
                <a:latin typeface="맑은 고딕"/>
              </a:defRPr>
            </a:pPr>
            <a:r>
              <a:t>**Lidar**: Range Sensor API (360도 스캔 데이터 생성)</a:t>
            </a:r>
          </a:p>
          <a:p>
            <a:pPr lvl="1">
              <a:spcAft>
                <a:spcPts val="1000"/>
              </a:spcAft>
              <a:defRPr sz="1500">
                <a:solidFill>
                  <a:srgbClr val="B4B4B9"/>
                </a:solidFill>
                <a:latin typeface="맑은 고딕"/>
              </a:defRPr>
            </a:pPr>
            <a:r>
              <a:t>**Camera**: RGB-D Sensor API (그리퍼 뷰 프레임 및 Depth 버퍼 쿼리)</a:t>
            </a:r>
          </a:p>
          <a:p>
            <a:pPr lvl="1">
              <a:spcAft>
                <a:spcPts val="1000"/>
              </a:spcAft>
              <a:defRPr sz="1500">
                <a:solidFill>
                  <a:srgbClr val="B4B4B9"/>
                </a:solidFill>
                <a:latin typeface="맑은 고딕"/>
              </a:defRPr>
            </a:pPr>
            <a:r>
              <a:t>**Manipulator**: Articulation Controller (가상 관절 토크 제어, 200Hz)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12: 전체 시스템 아키텍처 (System Architecture)</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**Simulation Layer**: Isaac Sim, 3D Map, Robot 1 &amp; 2 Asset, Fire &amp; Extinguisher Physics</a:t>
            </a:r>
          </a:p>
          <a:p>
            <a:pPr lvl="1">
              <a:spcAft>
                <a:spcPts val="1000"/>
              </a:spcAft>
              <a:defRPr sz="1500">
                <a:solidFill>
                  <a:srgbClr val="B4B4B9"/>
                </a:solidFill>
                <a:latin typeface="맑은 고딕"/>
              </a:defRPr>
            </a:pPr>
            <a:r>
              <a:t>**Bridge Layer**: UDP Bridge (`cmd_vel_udp_bridge.py`), TF/Odom Bridge, Plan File Bridge</a:t>
            </a:r>
          </a:p>
          <a:p>
            <a:pPr lvl="1">
              <a:spcAft>
                <a:spcPts val="1000"/>
              </a:spcAft>
              <a:defRPr sz="1500">
                <a:solidFill>
                  <a:srgbClr val="B4B4B9"/>
                </a:solidFill>
                <a:latin typeface="맑은 고딕"/>
              </a:defRPr>
            </a:pPr>
            <a:r>
              <a:t>**Control Layer**: ROS 2 Nav2 Stack, Robot 2 Patrol Agent, YOLOv8 Vision Inference Node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13: System Data &amp; Sensor Flow</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**Sensor Data**: Lidar (10Hz) ➔ ROS 2 `/scan` 토픽 발행</a:t>
            </a:r>
          </a:p>
          <a:p>
            <a:pPr lvl="1">
              <a:spcAft>
                <a:spcPts val="1000"/>
              </a:spcAft>
              <a:defRPr sz="1500">
                <a:solidFill>
                  <a:srgbClr val="B4B4B9"/>
                </a:solidFill>
                <a:latin typeface="맑은 고딕"/>
              </a:defRPr>
            </a:pPr>
            <a:r>
              <a:t>**TF Coordinate**: Odom ➔ Base Link ➔ Lidar Link 변환 (50Hz)</a:t>
            </a:r>
          </a:p>
          <a:p>
            <a:pPr lvl="1">
              <a:spcAft>
                <a:spcPts val="1000"/>
              </a:spcAft>
              <a:defRPr sz="1500">
                <a:solidFill>
                  <a:srgbClr val="B4B4B9"/>
                </a:solidFill>
                <a:latin typeface="맑은 고딕"/>
              </a:defRPr>
            </a:pPr>
            <a:r>
              <a:t>**Vision Data**: Gripper View RGB-D Image ➔ YOLOv8 Model (30Hz)</a:t>
            </a:r>
          </a:p>
          <a:p>
            <a:pPr lvl="1">
              <a:spcAft>
                <a:spcPts val="1000"/>
              </a:spcAft>
              <a:defRPr sz="1500">
                <a:solidFill>
                  <a:srgbClr val="B4B4B9"/>
                </a:solidFill>
                <a:latin typeface="맑은 고딕"/>
              </a:defRPr>
            </a:pPr>
            <a:r>
              <a:t>**Actuator Command**: ROS 2 `/cmd_vel` ➔ UDP Bridge ➔ Isaac Sim Articulation Target (200Hz)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14: 전체 비즈니스 시나리오 플로우차트 (Business Flow)</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**Step 1. 화재 감지**: 실내 발화 및 경보 발생</a:t>
            </a:r>
          </a:p>
          <a:p>
            <a:pPr lvl="1">
              <a:spcAft>
                <a:spcPts val="1000"/>
              </a:spcAft>
              <a:defRPr sz="1500">
                <a:solidFill>
                  <a:srgbClr val="B4B4B9"/>
                </a:solidFill>
                <a:latin typeface="맑은 고딕"/>
              </a:defRPr>
            </a:pPr>
            <a:r>
              <a:t>**Step 2. 로봇 투입**: Spot (진압팀) 및 Patrol Robot (구조팀) 동시 투입</a:t>
            </a:r>
          </a:p>
          <a:p>
            <a:pPr lvl="1">
              <a:spcAft>
                <a:spcPts val="1000"/>
              </a:spcAft>
              <a:defRPr sz="1500">
                <a:solidFill>
                  <a:srgbClr val="B4B4B9"/>
                </a:solidFill>
                <a:latin typeface="맑은 고딕"/>
              </a:defRPr>
            </a:pPr>
            <a:r>
              <a:t>**Step 3. 임무 수행**: 소화기 파지/투척 진압 및 객체 인식 기반 조난자 정렬</a:t>
            </a:r>
          </a:p>
          <a:p>
            <a:pPr lvl="1">
              <a:spcAft>
                <a:spcPts val="1000"/>
              </a:spcAft>
              <a:defRPr sz="1500">
                <a:solidFill>
                  <a:srgbClr val="B4B4B9"/>
                </a:solidFill>
                <a:latin typeface="맑은 고딕"/>
              </a:defRPr>
            </a:pPr>
            <a:r>
              <a:t>**Step 4. 호송 및 탈출**: 장애물 영역 회피 유도 및 출구(EXIT) 동시 동기 탈출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15: 시나리오 단계별 상세 스테이지 매핑</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**Stage 1 (동작 확인)**: 맵 로드, 통신 브릿지 가동, 수동 주행 테스트</a:t>
            </a:r>
          </a:p>
          <a:p>
            <a:pPr lvl="1">
              <a:spcAft>
                <a:spcPts val="1000"/>
              </a:spcAft>
              <a:defRPr sz="1500">
                <a:solidFill>
                  <a:srgbClr val="B4B4B9"/>
                </a:solidFill>
                <a:latin typeface="맑은 고딕"/>
              </a:defRPr>
            </a:pPr>
            <a:r>
              <a:t>**Stage 2 (화재/수동)**: 10초 점화/15초 확산 메커니즘, Grasp/Throw 관절 상태 강제 오버라이드 검증</a:t>
            </a:r>
          </a:p>
          <a:p>
            <a:pPr lvl="1">
              <a:spcAft>
                <a:spcPts val="1000"/>
              </a:spcAft>
              <a:defRPr sz="1500">
                <a:solidFill>
                  <a:srgbClr val="B4B4B9"/>
                </a:solidFill>
                <a:latin typeface="맑은 고딕"/>
              </a:defRPr>
            </a:pPr>
            <a:r>
              <a:t>**Stage 4 (비전 연동)**: yolov8n 모델 로드, Gripper View 디스플레이, 조난자 바운딩 박스 생성</a:t>
            </a:r>
          </a:p>
          <a:p>
            <a:pPr lvl="1">
              <a:spcAft>
                <a:spcPts val="1000"/>
              </a:spcAft>
              <a:defRPr sz="1500">
                <a:solidFill>
                  <a:srgbClr val="B4B4B9"/>
                </a:solidFill>
                <a:latin typeface="맑은 고딕"/>
              </a:defRPr>
            </a:pPr>
            <a:r>
              <a:t>**Stage 5 (최종 자동화)**: RL 균형 정책과 Nav2 자율주행의 통합, 2대 로봇 협동 탈출 루프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16: ROS 2 노드 플로우차트 (Topic/Service/Action 관계도)</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**`/robot1/navigate_to_pose` [Action]**: 로봇1 목적지 주행 명령</a:t>
            </a:r>
          </a:p>
          <a:p>
            <a:pPr lvl="1">
              <a:spcAft>
                <a:spcPts val="1000"/>
              </a:spcAft>
              <a:defRPr sz="1500">
                <a:solidFill>
                  <a:srgbClr val="B4B4B9"/>
                </a:solidFill>
                <a:latin typeface="맑은 고딕"/>
              </a:defRPr>
            </a:pPr>
            <a:r>
              <a:t>**`/robot2/navigate_to_pose` [Action]**: 로봇2 순찰 룸 이동 명령</a:t>
            </a:r>
          </a:p>
          <a:p>
            <a:pPr lvl="1">
              <a:spcAft>
                <a:spcPts val="1000"/>
              </a:spcAft>
              <a:defRPr sz="1500">
                <a:solidFill>
                  <a:srgbClr val="B4B4B9"/>
                </a:solidFill>
                <a:latin typeface="맑은 고딕"/>
              </a:defRPr>
            </a:pPr>
            <a:r>
              <a:t>**`/robot2/spin` [Action]**: 360도 회전 사각지대 해소</a:t>
            </a:r>
          </a:p>
          <a:p>
            <a:pPr lvl="1">
              <a:spcAft>
                <a:spcPts val="1000"/>
              </a:spcAft>
              <a:defRPr sz="1500">
                <a:solidFill>
                  <a:srgbClr val="B4B4B9"/>
                </a:solidFill>
                <a:latin typeface="맑은 고딕"/>
              </a:defRPr>
            </a:pPr>
            <a:r>
              <a:t>**`/tf` &amp; `/tf_static` [Topic]**: 좌표 브로드캐스터</a:t>
            </a:r>
          </a:p>
          <a:p>
            <a:pPr lvl="1">
              <a:spcAft>
                <a:spcPts val="1000"/>
              </a:spcAft>
              <a:defRPr sz="1500">
                <a:solidFill>
                  <a:srgbClr val="B4B4B9"/>
                </a:solidFill>
                <a:latin typeface="맑은 고딕"/>
              </a:defRPr>
            </a:pPr>
            <a:r>
              <a:t>**`/robot2/clear_costmap` [Service]**: 에스코트 시 Costmap 리셋 서비스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17: Simulation Map Environment (3D Layout)</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**USDZ 포맷 실내 맵**: 실제 가정집/오피스 환경을 모사한 3D 매시 모델링</a:t>
            </a:r>
          </a:p>
          <a:p>
            <a:pPr lvl="1">
              <a:spcAft>
                <a:spcPts val="1000"/>
              </a:spcAft>
              <a:defRPr sz="1500">
                <a:solidFill>
                  <a:srgbClr val="B4B4B9"/>
                </a:solidFill>
                <a:latin typeface="맑은 고딕"/>
              </a:defRPr>
            </a:pPr>
            <a:r>
              <a:t>**공간 구조**: 중앙 복도와 이를 둘러싼 5개의 독립된 구역(방) 및 탈출용 메인 출구</a:t>
            </a:r>
          </a:p>
          <a:p>
            <a:pPr lvl="1">
              <a:spcAft>
                <a:spcPts val="1000"/>
              </a:spcAft>
              <a:defRPr sz="1500">
                <a:solidFill>
                  <a:srgbClr val="B4B4B9"/>
                </a:solidFill>
                <a:latin typeface="맑은 고딕"/>
              </a:defRPr>
            </a:pPr>
            <a:r>
              <a:t>**좌표 기준점 (Origin)**: 시뮬레이션의 절대 원점 `(0, 0, 0)` 기준 설정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18: Props &amp; Assets Dynamic Placement</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**소화기 에셋 (Extinguisher)**: 중력과 속도에 반응하는 강체(Rigid Body) 설정</a:t>
            </a:r>
          </a:p>
          <a:p>
            <a:pPr lvl="1">
              <a:spcAft>
                <a:spcPts val="1000"/>
              </a:spcAft>
              <a:defRPr sz="1500">
                <a:solidFill>
                  <a:srgbClr val="B4B4B9"/>
                </a:solidFill>
                <a:latin typeface="맑은 고딕"/>
              </a:defRPr>
            </a:pPr>
            <a:r>
              <a:t>**화점 (Fire Emitter)**: 파티클 시스템 기반의 불꽃 형상 렌더링, 수명 및 확산 계수 설정</a:t>
            </a:r>
          </a:p>
          <a:p>
            <a:pPr lvl="1">
              <a:spcAft>
                <a:spcPts val="1000"/>
              </a:spcAft>
              <a:defRPr sz="1500">
                <a:solidFill>
                  <a:srgbClr val="B4B4B9"/>
                </a:solidFill>
                <a:latin typeface="맑은 고딕"/>
              </a:defRPr>
            </a:pPr>
            <a:r>
              <a:t>**조난자 에셋 (Person1, Person2)**: 탐지 가능 속성을 가진 인간 형상 메시, 런타임 콜리전 스위칭 지원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19: DDS Middleware Optimization</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**기본 DDS (FastDDS)의 한계**: 고해상도 RGB 이미지와 50Hz 이상의 고빈도 TF 트리가 혼재할 때, 네트워크 버퍼 오버플로우로 인한 제어 명령 유실 및 ROS 2 데드락 빈발</a:t>
            </a:r>
          </a:p>
          <a:p>
            <a:pPr lvl="1">
              <a:spcAft>
                <a:spcPts val="1000"/>
              </a:spcAft>
              <a:defRPr sz="1500">
                <a:solidFill>
                  <a:srgbClr val="B4B4B9"/>
                </a:solidFill>
                <a:latin typeface="맑은 고딕"/>
              </a:defRPr>
            </a:pPr>
            <a:r>
              <a:t>**선정 배경 (CycloneDDS)**:</a:t>
            </a:r>
          </a:p>
          <a:p>
            <a:pPr lvl="1">
              <a:spcAft>
                <a:spcPts val="1000"/>
              </a:spcAft>
              <a:defRPr sz="1500">
                <a:solidFill>
                  <a:srgbClr val="B4B4B9"/>
                </a:solidFill>
                <a:latin typeface="맑은 고딕"/>
              </a:defRPr>
            </a:pPr>
            <a:r>
              <a:t>멀티캐스트 패킷 손실에 대한 견고한 복구 매커니즘 내장</a:t>
            </a:r>
          </a:p>
          <a:p>
            <a:pPr lvl="1">
              <a:spcAft>
                <a:spcPts val="1000"/>
              </a:spcAft>
              <a:defRPr sz="1500">
                <a:solidFill>
                  <a:srgbClr val="B4B4B9"/>
                </a:solidFill>
                <a:latin typeface="맑은 고딕"/>
              </a:defRPr>
            </a:pPr>
            <a:r>
              <a:t>레이턴시 변동성(Jitter) 최소화로 고주파 closed-loop 제어 성능 극대화</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20: Vision AI: YOLOv8n Integration</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**경량화 모델 사용**: `yolov8n.pt` (인명 탐지 특화, 파라미터 수 약 3.2M)</a:t>
            </a:r>
          </a:p>
          <a:p>
            <a:pPr lvl="1">
              <a:spcAft>
                <a:spcPts val="1000"/>
              </a:spcAft>
              <a:defRPr sz="1500">
                <a:solidFill>
                  <a:srgbClr val="B4B4B9"/>
                </a:solidFill>
                <a:latin typeface="맑은 고딕"/>
              </a:defRPr>
            </a:pPr>
            <a:r>
              <a:t>**임계값 튜닝**: `COBOT_YOLO_CONF = 0.35` (오탐율과 미탐율의 트레이드오프 고려 최적화)</a:t>
            </a:r>
          </a:p>
          <a:p>
            <a:pPr lvl="1">
              <a:spcAft>
                <a:spcPts val="1000"/>
              </a:spcAft>
              <a:defRPr sz="1500">
                <a:solidFill>
                  <a:srgbClr val="B4B4B9"/>
                </a:solidFill>
                <a:latin typeface="맑은 고딕"/>
              </a:defRPr>
            </a:pPr>
            <a:r>
              <a:t>**그리퍼 카메라 링크 마운트**: 로봇의 진행 방향뿐만 아니라 상하 각도 조절이 가능한 관절 연동 카메라 구성</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21: Stage 1: 로봇 기본 동작 및 주행 통신 파이프라인</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**동작 단계**: 시뮬레이션 물리 기동 및 기초 제어 인프라 확립 단계</a:t>
            </a:r>
          </a:p>
          <a:p>
            <a:pPr lvl="1">
              <a:spcAft>
                <a:spcPts val="1000"/>
              </a:spcAft>
              <a:defRPr sz="1500">
                <a:solidFill>
                  <a:srgbClr val="B4B4B9"/>
                </a:solidFill>
                <a:latin typeface="맑은 고딕"/>
              </a:defRPr>
            </a:pPr>
            <a:r>
              <a:t>**목표**: ROS 2와의 양방향 통신 바인딩 및 라이다 센서 데이터 피드 백 수신 검증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22: Stage 1 주요 기능: 에셋 스폰 &amp; TF Tree</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**다중 로봇 네임스페이스 분리**: `robot1/` 및 `robot2/` 접두어를 붙여 오돔 및 링크 충돌 방지</a:t>
            </a:r>
          </a:p>
          <a:p>
            <a:pPr lvl="1">
              <a:spcAft>
                <a:spcPts val="1000"/>
              </a:spcAft>
              <a:defRPr sz="1500">
                <a:solidFill>
                  <a:srgbClr val="B4B4B9"/>
                </a:solidFill>
                <a:latin typeface="맑은 고딕"/>
              </a:defRPr>
            </a:pPr>
            <a:r>
              <a:t>**TF Broadcaster**: `pose_file_to_ros_bridge.py`를 활용하여 Isaac Sim 내 로봇 위치를 ROS 2 TF 트리로 실시간 동기화</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23: Stage 1 주요 기능: Nav2 &amp; Keyboard Control</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**텔레오퍼레이션**: 키보드 방향키를 사용하여 로봇에 선속도/각속도 명령 직접 인가</a:t>
            </a:r>
          </a:p>
          <a:p>
            <a:pPr lvl="1">
              <a:spcAft>
                <a:spcPts val="1000"/>
              </a:spcAft>
              <a:defRPr sz="1500">
                <a:solidFill>
                  <a:srgbClr val="B4B4B9"/>
                </a:solidFill>
                <a:latin typeface="맑은 고딕"/>
              </a:defRPr>
            </a:pPr>
            <a:r>
              <a:t>**Nav2 스택 연결**: 로봇이 수동 주행하는 동안 센서 정보가 정상 수집되어 맵 상에 로봇 위치가 보정되는지 검증</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24: [Troubleshooting 1] 외부 USDZ 맵 물리 충돌 모델링 누락</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**문제 상황**: 외부에서 제작된 실내 USDZ 맵을 로드했을 때, 메시 구조물은 눈에 보이나 물리적인 충돌 API가 없어 로봇이 중력에 의해 바닥을 뚫고 끝없이 추락함.</a:t>
            </a:r>
          </a:p>
          <a:p>
            <a:pPr lvl="1">
              <a:spcAft>
                <a:spcPts val="1000"/>
              </a:spcAft>
              <a:defRPr sz="1500">
                <a:solidFill>
                  <a:srgbClr val="B4B4B9"/>
                </a:solidFill>
                <a:latin typeface="맑은 고딕"/>
              </a:defRPr>
            </a:pPr>
            <a:r>
              <a:t>**해결책**: `env/environment.py` 파일의 `apply_map_collisions` 파트를 수정하여, 로드 시 맵 내부의 모든 하위 메시 노드들을 순회 탐색하고, 런타임에 UsdPhysics 물리 API를 강제 부여하여 견고한 바닥 충돌 경계면을 자동 생성하도록 조치.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25: [Troubleshooting 3-1] Nav2 코스트맵 튜닝: 장애물 통과 불능</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**문제 상황**: 좁은 복도 코너나 가구 사이를 통과할 때, 기본 Inflation Radius 설정이 너무 크게 설정되어 로봇 주위의 모든 구역이 진입 불가 영역(Lethal Obstacle)으로 팽창되어 자율 주행 경로 생성이 원천 불가능해지는 데드락 발생.</a:t>
            </a:r>
          </a:p>
          <a:p>
            <a:pPr lvl="1">
              <a:spcAft>
                <a:spcPts val="1000"/>
              </a:spcAft>
              <a:defRPr sz="1500">
                <a:solidFill>
                  <a:srgbClr val="B4B4B9"/>
                </a:solidFill>
                <a:latin typeface="맑은 고딕"/>
              </a:defRPr>
            </a:pPr>
            <a:r>
              <a:t>**해결책**: `robot1_nav2_params.yaml` 및 `robot2_nav2_params.yaml` 내의 Costmap Inflation Layer의 `inflation_radius`와 `cost_scaling_factor` 파라미터를 실내 폭(최소 0.8m 통과 가능 규격)에 맞추어 보정하여 주행 성능 정상화.</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26: [Troubleshooting 3-3] 맵 좌표계 불일치 (Lidar TF 오차 수정)</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**문제 상황**: 시뮬레이션 상의 로봇의 글로벌 좌표 좌표계 기준과 ROS 2 내에서 Nav2가 맵(Map) 프레임을 생성할 때 사용하는 로컬 원점 간의 미세한 회전 오프셋 및 Lidar 조준축 불일치로 인하여, 주행할수록 맵이 찢어지고 로봇이 벽에 충돌함.</a:t>
            </a:r>
          </a:p>
          <a:p>
            <a:pPr lvl="1">
              <a:spcAft>
                <a:spcPts val="1000"/>
              </a:spcAft>
              <a:defRPr sz="1500">
                <a:solidFill>
                  <a:srgbClr val="B4B4B9"/>
                </a:solidFill>
                <a:latin typeface="맑은 고딕"/>
              </a:defRPr>
            </a:pPr>
            <a:r>
              <a:t>**해결책**: Lidar 마운트 각도 오프셋 값을 역계산하여 브릿지 노드 `pose_file_to_ros_bridge.py` 상에서 강제로 Quaternion 좌표 축 보정 필터를 보태고, 로봇 오도메트리 파라미터를 보정하여 좌표 동기화 오차율 0% 달성.</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27: [Troubleshooting 4] Nav2 자율 이동 시 급격한 회전 및 모션 제어</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**문제 상황**: 자율 주행 중 ROS 2 내비게이터가 인가하는 회전 속도 명령이 급작스럽게 바뀔 때마다, 물리 엔진 내의 사족보행 로봇 관절이 이를 추종하지 못해 급회전하거나 휘청거리며 다리 링크가 손상되는 모션 불안정 현상 발생.</a:t>
            </a:r>
          </a:p>
          <a:p>
            <a:pPr lvl="1">
              <a:spcAft>
                <a:spcPts val="1000"/>
              </a:spcAft>
              <a:defRPr sz="1500">
                <a:solidFill>
                  <a:srgbClr val="B4B4B9"/>
                </a:solidFill>
                <a:latin typeface="맑은 고딕"/>
              </a:defRPr>
            </a:pPr>
            <a:r>
              <a:t>**해결책**: `applications/spot_agent.py` 내의 `_stable_drive_command` 함수를 추가 설계하여, 과거 명령 프레임과 현재 프레임의 입력 가속 비율을 조절하는 Low-pass filter 및 급격한 속도 변화를 억제하는 Slew-rate limiter 로직을 탑재하여 모션 스무딩 달성.</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28: Stage 2: 화재 발생 및 매니퓰레이터 파지/투척 파이프라인</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**동작 단계**: 물리 반응형 화재 확산 시뮬레이션 및 로봇 팔 조작성 테스트</a:t>
            </a:r>
          </a:p>
          <a:p>
            <a:pPr lvl="1">
              <a:spcAft>
                <a:spcPts val="1000"/>
              </a:spcAft>
              <a:defRPr sz="1500">
                <a:solidFill>
                  <a:srgbClr val="B4B4B9"/>
                </a:solidFill>
                <a:latin typeface="맑은 고딕"/>
              </a:defRPr>
            </a:pPr>
            <a:r>
              <a:t>**목표**: RL 관절 정책 오버라이드를 통한 소화기 픽앤플레이스 수동 인터페이스 검증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29: Stage 2 주요 기능: 물리 기반 화재 시뮬레이션</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**동적 화재 파티클 생성**: OmniGraph 파티클 이미터를 활용하여 실감나는 연기 및 화염 비주얼 구현</a:t>
            </a:r>
          </a:p>
          <a:p>
            <a:pPr lvl="1">
              <a:spcAft>
                <a:spcPts val="1000"/>
              </a:spcAft>
              <a:defRPr sz="1500">
                <a:solidFill>
                  <a:srgbClr val="B4B4B9"/>
                </a:solidFill>
                <a:latin typeface="맑은 고딕"/>
              </a:defRPr>
            </a:pPr>
            <a:r>
              <a:t>**화재 확산 알고리즘**: 일정 주기에 따라 이미터 크기와 농도를 선형 증가시켜 불이 번지는 상황 연출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30: Stage 2 주요 기능: 로봇 매니퓰레이터 제어</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**파지 (Grasp - G key)**: 로봇 그리퍼 끝단(End-effector)이 소화기 바운딩 영역에 닿으면 강한 관절 강성을 가해 고정시킴</a:t>
            </a:r>
          </a:p>
          <a:p>
            <a:pPr lvl="1">
              <a:spcAft>
                <a:spcPts val="1000"/>
              </a:spcAft>
              <a:defRPr sz="1500">
                <a:solidFill>
                  <a:srgbClr val="B4B4B9"/>
                </a:solidFill>
                <a:latin typeface="맑은 고딕"/>
              </a:defRPr>
            </a:pPr>
            <a:r>
              <a:t>**투척 (Throw - Q key)**: 매니퓰레이터의 어깨 및 팔꿈치 관절 모터를 전방으로 급속 스윙하면서 순간적으로 파지 동적 관계를 해제(Release)하여 물리 투사체 궤적 생성</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31: [Troubleshooting 2] 로봇 팔 전방 구동 시 무게 중심 불균형 전복</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**문제 상황**: 소화기(무게 4.5kg 상당)를 잡기 위해 6축 로봇 팔을 전방으로 완전히 뻗었을 때, 무게 중심(CoG)이 앞발 너머로 이탈하면서 강화학습 보행 정책이 이를 험지 경사로 인식해 발을 헛디뎌 앞으로 완전히 꼬꾸라져 자빠지는 전복 에러 발생.</a:t>
            </a:r>
          </a:p>
          <a:p>
            <a:pPr lvl="1">
              <a:spcAft>
                <a:spcPts val="1000"/>
              </a:spcAft>
              <a:defRPr sz="1500">
                <a:solidFill>
                  <a:srgbClr val="B4B4B9"/>
                </a:solidFill>
                <a:latin typeface="맑은 고딕"/>
              </a:defRPr>
            </a:pPr>
            <a:r>
              <a:t>**해결책**: 파지 모드 진입 시 다리 관절 강성(Stiffness)을 2000으로 잠금(`override_leg_freeze`) 조치하여 기저부 하체를 완전히 단단한 삼각대 형태로 고정하고, 팔 관절 강성을 최대 `5000 / 250`으로 긴급 급상승(Boosting)시켜 전방 모멘트를 완벽히 지지하도록 튜닝 완료.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32: [Troubleshooting 3-2] 목표 근접 시 과보정 및 제자리 폭주 제어</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**문제 상황**: 로봇이 소화기 파지 지점이나 화점 근처 목표 위치에 0.1m 이내로 인접했을 때, 미세한 잔여 오차를 메우기 위해 지속적으로 고주파 각속도 명령을 인가하면서 제자리에서 발을 구르고 미친 듯이 회전하며 소화 대기 상태로 이행하지 못하는 폭주 현상 발생.</a:t>
            </a:r>
          </a:p>
          <a:p>
            <a:pPr lvl="1">
              <a:spcAft>
                <a:spcPts val="1000"/>
              </a:spcAft>
              <a:defRPr sz="1500">
                <a:solidFill>
                  <a:srgbClr val="B4B4B9"/>
                </a:solidFill>
                <a:latin typeface="맑은 고딕"/>
              </a:defRPr>
            </a:pPr>
            <a:r>
              <a:t>**해결책**: 에이전트 스크립트 내에 `idle_brake` 로직을 이식. 목표와 거리가 0.15m 이내에 진입하면 목표 주행 성공을 임의로 판정하고, 가상 브레이크 신호를 발생시켜 물리 모터 입력을 0으로 완전히 잠그고 즉시 다음 작업(파지/투척)을 호출하도록 시퀀스 보강.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33: Stage 4: 인명 탐지 비전 카메라 및 YOLOv8 모델 연동</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**동작 단계**: 이미지 프로세싱과 인공지능 탐지 모듈 바인딩 단계</a:t>
            </a:r>
          </a:p>
          <a:p>
            <a:pPr lvl="1">
              <a:spcAft>
                <a:spcPts val="1000"/>
              </a:spcAft>
              <a:defRPr sz="1500">
                <a:solidFill>
                  <a:srgbClr val="B4B4B9"/>
                </a:solidFill>
                <a:latin typeface="맑은 고딕"/>
              </a:defRPr>
            </a:pPr>
            <a:r>
              <a:t>**목표**: RGB 카메라 프레임 상에서 사람 클래스를 탐지하고 정렬 각도를 계산하는 인공지능 제어 루프 확보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34: Stage 4 주요 기능: 조난자 3D 에셋 모델링</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**조난자 에셋 스폰**: `Person1`, `Person2` 등 리얼리스틱 캐릭터 물리 모델 배치</a:t>
            </a:r>
          </a:p>
          <a:p>
            <a:pPr lvl="1">
              <a:spcAft>
                <a:spcPts val="1000"/>
              </a:spcAft>
              <a:defRPr sz="1500">
                <a:solidFill>
                  <a:srgbClr val="B4B4B9"/>
                </a:solidFill>
                <a:latin typeface="맑은 고딕"/>
              </a:defRPr>
            </a:pPr>
            <a:r>
              <a:t>**동적 장애물화 해제**: 비행 주행 시에는 Nav2 맵에 장애물로 인식되게 하지만 에스코트 시에는 센서 융합을 위해 속성을 동적으로 온/오프할 수 있게 설계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35: Stage 4 주요 기능: YOLOv8 실시간 인명 추적</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**추론 성능**: CPU-GPU 파이프라인 최적화를 통해 25ms 내외의 초고속 실시간 인퍼런스 실현</a:t>
            </a:r>
          </a:p>
          <a:p>
            <a:pPr lvl="1">
              <a:spcAft>
                <a:spcPts val="1000"/>
              </a:spcAft>
              <a:defRPr sz="1500">
                <a:solidFill>
                  <a:srgbClr val="B4B4B9"/>
                </a:solidFill>
                <a:latin typeface="맑은 고딕"/>
              </a:defRPr>
            </a:pPr>
            <a:r>
              <a:t>**정렬 피드백 제어**: 박스 중심이 화면 중앙에서 이탈한 픽셀 크기만큼 로봇 회전 각속도(`wz`)에 정비례하도록 비례제어(P-Control) 루프 설계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36: [Troubleshooting 6] 일시적 비전 프레임 유실 및 깊이 버퍼 오류 해결</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**문제 상황**: YOLOv8 탐지는 되었으나, 순간적인 센서 리셋이나 드롭으로 RGB-D 깊이 센서 데이터 버퍼(`depth_np[cy, cx]`)가 NaN(Not a Number) 혹은 0값으로 빈 데이터가 들어오는 경우, 거리 계산이 불가능하여 상태머신이 제자리에서 멈추어 서는 버그 발생.</a:t>
            </a:r>
          </a:p>
          <a:p>
            <a:pPr lvl="1">
              <a:spcAft>
                <a:spcPts val="1000"/>
              </a:spcAft>
              <a:defRPr sz="1500">
                <a:solidFill>
                  <a:srgbClr val="B4B4B9"/>
                </a:solidFill>
                <a:latin typeface="맑은 고딕"/>
              </a:defRPr>
            </a:pPr>
            <a:r>
              <a:t>**해결책**: 예외 포착 로직을 추가하여 깊이 맵이 깨지는 즉시 시뮬레이터 물리 코어의 레이저 가상 라인 캐스팅 함수인 `_camera_raycast_person_detection`을 Fallback(백업)으로 즉시 기동시켜 물리학적 거리를 실시간 우회 측정해 시퀀스를 논스톱 완수하도록 조치.</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37: Stage 5: 완전 자동화 시나리오 통합 및 협동 주행 파이프라인</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**동작 단계**: 전체 시스템의 최고 난이도 통합 런타임 단계</a:t>
            </a:r>
          </a:p>
          <a:p>
            <a:pPr lvl="1">
              <a:spcAft>
                <a:spcPts val="1000"/>
              </a:spcAft>
              <a:defRPr sz="1500">
                <a:solidFill>
                  <a:srgbClr val="B4B4B9"/>
                </a:solidFill>
                <a:latin typeface="맑은 고딕"/>
              </a:defRPr>
            </a:pPr>
            <a:r>
              <a:t>**목표**: 완전 무인 상태에서 두 에이전트의 충돌 없는 상호 분업 및 안전 탈출 성공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38: Stage 5 주요 기능: robot1 완전 자동 소화 시퀀스</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**목적지 자율 이행**: ROS 2 Action 인터페이스를 이용해 `소화기 위치` -&gt; `화점 위치` -&gt; `최종 대피소`로 순차적 자율 주행</a:t>
            </a:r>
          </a:p>
          <a:p>
            <a:pPr lvl="1">
              <a:spcAft>
                <a:spcPts val="1000"/>
              </a:spcAft>
              <a:defRPr sz="1500">
                <a:solidFill>
                  <a:srgbClr val="B4B4B9"/>
                </a:solidFill>
                <a:latin typeface="맑은 고딕"/>
              </a:defRPr>
            </a:pPr>
            <a:r>
              <a:t>**로봇 팔 상태 머신 결합**: 지정 주행 구역 반경 내에 들어오면 주행 상태를 일시 중단하고 파지/투척 매니퓰레이터 상태 머신을 트리거한 후 복귀하는 자동화 시퀀스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39: Stage 5 주요 기능: robot2 순찰 및 조난자 호송 유도</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**순찰 루프**: `[5➔1➔3➔4➔6번방]` 순서로 Nav2 및 360도 Spin 명령을 반복하며 정밀 순찰</a:t>
            </a:r>
          </a:p>
          <a:p>
            <a:pPr lvl="1">
              <a:spcAft>
                <a:spcPts val="1000"/>
              </a:spcAft>
              <a:defRPr sz="1500">
                <a:solidFill>
                  <a:srgbClr val="B4B4B9"/>
                </a:solidFill>
                <a:latin typeface="맑은 고딕"/>
              </a:defRPr>
            </a:pPr>
            <a:r>
              <a:t>**대피 유도**: 인명 탐지 즉시 순찰 임무를 강제 취소하고, 조난자의 물리 충돌 속성을 차단 후 로봇 후방 2.4m 거리로 조난자를 동적 위치 업데이트하며 출구로 에스코트 자율 주행</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40: [Troubleshooting 5] 통신 지연으로 인한 Nav2 액션 서버 먹통 해결</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**문제 상황**: 시뮬레이션 리소스 과부하로 인해 일시적인 DDS 네트워크 병목이 생겼을 때, ROS 2 Nav2 액션 서버가 완료 혹은 실패 응답(Goal Response)을 주지 않고 무한 대기 상태(Deadlock)에 빠져 로봇이 다음 방으로 가지 못하고 멈추는 에러.</a:t>
            </a:r>
          </a:p>
          <a:p>
            <a:pPr lvl="1">
              <a:spcAft>
                <a:spcPts val="1000"/>
              </a:spcAft>
              <a:defRPr sz="1500">
                <a:solidFill>
                  <a:srgbClr val="B4B4B9"/>
                </a:solidFill>
                <a:latin typeface="맑은 고딕"/>
              </a:defRPr>
            </a:pPr>
            <a:r>
              <a:t>**해결책**: `robot2_room_patrol.py` 내에 `_nav_goal_retry` 비동기 상태 확인 스레드를 설계. 목표 송신 후 일정 시간(예: 8초) 내에 상태 피드백이 응답되지 않으면, 활성 액션을 강제 캔슬하고 목표지를 다시 재전송하는 리트라이(Retry) 예외 감시 루틴을 추가하여 생존성 보장.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41: 프로젝트 시연: 통합 시나리오 구동 영상</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**진압 시나리오 (Stage 1~2)**: Isaac Sim 로봇 스폰 ➔ 수동/자율 주행 및 라이다 매핑 ➔ Spot 로봇 팔 제어 오버라이드 및 소화기 파지/투척 진압</a:t>
            </a:r>
          </a:p>
          <a:p>
            <a:pPr lvl="1">
              <a:spcAft>
                <a:spcPts val="1000"/>
              </a:spcAft>
              <a:defRPr sz="1500">
                <a:solidFill>
                  <a:srgbClr val="B4B4B9"/>
                </a:solidFill>
                <a:latin typeface="맑은 고딕"/>
              </a:defRPr>
            </a:pPr>
            <a:r>
              <a:t>**구조 시나리오 (Stage 4~5)**: YOLOv8 실시간 조난자 감지 ➔ 정렬 및 접근 ➔ 에스코트 유도(장애물 팽창 회피 및 Costmap 초기화) ➔ 출구 동시 안전 탈출 완료</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42: 자체 평가의견: 기술적 개선점 및 향후 로드맵</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**기술적 개선점 (Technical Improvements)**:</a:t>
            </a:r>
          </a:p>
          <a:p>
            <a:pPr lvl="1">
              <a:spcAft>
                <a:spcPts val="1000"/>
              </a:spcAft>
              <a:defRPr sz="1500">
                <a:solidFill>
                  <a:srgbClr val="B4B4B9"/>
                </a:solidFill>
                <a:latin typeface="맑은 고딕"/>
              </a:defRPr>
            </a:pPr>
            <a:r>
              <a:t>*물리 마찰*: 소화기 릴리즈 시 그리퍼 잔여 마찰력을 zero로 동적 API 변환하여 투척 정확도 보장 필요</a:t>
            </a:r>
          </a:p>
          <a:p>
            <a:pPr lvl="1">
              <a:spcAft>
                <a:spcPts val="1000"/>
              </a:spcAft>
              <a:defRPr sz="1500">
                <a:solidFill>
                  <a:srgbClr val="B4B4B9"/>
                </a:solidFill>
                <a:latin typeface="맑은 고딕"/>
              </a:defRPr>
            </a:pPr>
            <a:r>
              <a:t>*라이다 간섭*: 화염 연기 파티클의 센서 난반사 오차를 제거하기 위한 Kalman Filter 통신 보완</a:t>
            </a:r>
          </a:p>
          <a:p>
            <a:pPr lvl="1">
              <a:spcAft>
                <a:spcPts val="1000"/>
              </a:spcAft>
              <a:defRPr sz="1500">
                <a:solidFill>
                  <a:srgbClr val="B4B4B9"/>
                </a:solidFill>
                <a:latin typeface="맑은 고딕"/>
              </a:defRPr>
            </a:pPr>
            <a:r>
              <a:t>*질량 적응 RL*: 중량물 파지 보행 시 도메인 랜더마이징(Domain Randomization)을 반영한 하이퍼 파라미터 재학습</a:t>
            </a:r>
          </a:p>
          <a:p>
            <a:pPr lvl="1">
              <a:spcAft>
                <a:spcPts val="1000"/>
              </a:spcAft>
              <a:defRPr sz="1500">
                <a:solidFill>
                  <a:srgbClr val="B4B4B9"/>
                </a:solidFill>
                <a:latin typeface="맑은 고딕"/>
              </a:defRPr>
            </a:pPr>
            <a:r>
              <a:t>*동기화*: 시뮬레이터-ROS2 간 비동기 레이턴시 방지를 위해 Real-Time 커널 및 HIL 도입 검토</a:t>
            </a:r>
          </a:p>
          <a:p>
            <a:pPr lvl="1">
              <a:spcAft>
                <a:spcPts val="1000"/>
              </a:spcAft>
              <a:defRPr sz="1500">
                <a:solidFill>
                  <a:srgbClr val="B4B4B9"/>
                </a:solidFill>
                <a:latin typeface="맑은 고딕"/>
              </a:defRPr>
            </a:pPr>
            <a:r>
              <a:t>**차후 발전 방향 (Future Roadmap)**:</a:t>
            </a:r>
          </a:p>
          <a:p>
            <a:pPr lvl="1">
              <a:spcAft>
                <a:spcPts val="1000"/>
              </a:spcAft>
              <a:defRPr sz="1500">
                <a:solidFill>
                  <a:srgbClr val="B4B4B9"/>
                </a:solidFill>
                <a:latin typeface="맑은 고딕"/>
              </a:defRPr>
            </a:pPr>
            <a:r>
              <a:t>*1단계 Sim-to-Real*: 검증된 Nav2 및 YOLOv8 가중치를 실물 사족보행 로봇(Spot)에 포팅 및 실물 실증</a:t>
            </a:r>
          </a:p>
          <a:p>
            <a:pPr lvl="1">
              <a:spcAft>
                <a:spcPts val="1000"/>
              </a:spcAft>
              <a:defRPr sz="1500">
                <a:solidFill>
                  <a:srgbClr val="B4B4B9"/>
                </a:solidFill>
                <a:latin typeface="맑은 고딕"/>
              </a:defRPr>
            </a:pPr>
            <a:r>
              <a:t>*2단계 MARL*: 고정 룰 기반 분업에서 다중 협동 강화학습 기반의 지능형 역할 동적 배분</a:t>
            </a:r>
          </a:p>
          <a:p>
            <a:pPr lvl="1">
              <a:spcAft>
                <a:spcPts val="1000"/>
              </a:spcAft>
              <a:defRPr sz="1500">
                <a:solidFill>
                  <a:srgbClr val="B4B4B9"/>
                </a:solidFill>
                <a:latin typeface="맑은 고딕"/>
              </a:defRPr>
            </a:pPr>
            <a:r>
              <a:t>*3단계 클라우드*: 5G 기반 중앙 재난 상황 관제 대시보드 연동 시각화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43: 자체 평가의견: 성과 및 한계 (Well-Done &amp; Limitations)</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**Well-Done (잘한 점)**:</a:t>
            </a:r>
          </a:p>
          <a:p>
            <a:pPr lvl="1">
              <a:spcAft>
                <a:spcPts val="1000"/>
              </a:spcAft>
              <a:defRPr sz="1500">
                <a:solidFill>
                  <a:srgbClr val="B4B4B9"/>
                </a:solidFill>
                <a:latin typeface="맑은 고딕"/>
              </a:defRPr>
            </a:pPr>
            <a:r>
              <a:t>*완전 자동화*: 인간의 개입을 배제한 로봇 2대의 시나리오 100% 자율 완수</a:t>
            </a:r>
          </a:p>
          <a:p>
            <a:pPr lvl="1">
              <a:spcAft>
                <a:spcPts val="1000"/>
              </a:spcAft>
              <a:defRPr sz="1500">
                <a:solidFill>
                  <a:srgbClr val="B4B4B9"/>
                </a:solidFill>
                <a:latin typeface="맑은 고딕"/>
              </a:defRPr>
            </a:pPr>
            <a:r>
              <a:t>*결함 돌파*: DDS 병목, RL 전복, 좌표 오차 등 8대 난제를 코딩으로 극복</a:t>
            </a:r>
          </a:p>
          <a:p>
            <a:pPr lvl="1">
              <a:spcAft>
                <a:spcPts val="1000"/>
              </a:spcAft>
              <a:defRPr sz="1500">
                <a:solidFill>
                  <a:srgbClr val="B4B4B9"/>
                </a:solidFill>
                <a:latin typeface="맑은 고딕"/>
              </a:defRPr>
            </a:pPr>
            <a:r>
              <a:t>*문서화 기여*: 시스템 아키텍처 및 상세 설계를 8대 Mermaid 다이어그램으로 완비</a:t>
            </a:r>
          </a:p>
          <a:p>
            <a:pPr lvl="1">
              <a:spcAft>
                <a:spcPts val="1000"/>
              </a:spcAft>
              <a:defRPr sz="1500">
                <a:solidFill>
                  <a:srgbClr val="B4B4B9"/>
                </a:solidFill>
                <a:latin typeface="맑은 고딕"/>
              </a:defRPr>
            </a:pPr>
            <a:r>
              <a:t>**Limitations (아쉬웠던 점)**:</a:t>
            </a:r>
          </a:p>
          <a:p>
            <a:pPr lvl="1">
              <a:spcAft>
                <a:spcPts val="1000"/>
              </a:spcAft>
              <a:defRPr sz="1500">
                <a:solidFill>
                  <a:srgbClr val="B4B4B9"/>
                </a:solidFill>
                <a:latin typeface="맑은 고딕"/>
              </a:defRPr>
            </a:pPr>
            <a:r>
              <a:t>*상태 진단 누락*: 조난자 단순 식별 외 화상/의식 여부 등 정밀 진료(Triage) 부재</a:t>
            </a:r>
          </a:p>
          <a:p>
            <a:pPr lvl="1">
              <a:spcAft>
                <a:spcPts val="1000"/>
              </a:spcAft>
              <a:defRPr sz="1500">
                <a:solidFill>
                  <a:srgbClr val="B4B4B9"/>
                </a:solidFill>
                <a:latin typeface="맑은 고딕"/>
              </a:defRPr>
            </a:pPr>
            <a:r>
              <a:t>*동적 경로 지연*: 화재 확산 점을 실시간 장애물 맵핑하는 연산 속도의 소폭 저하</a:t>
            </a:r>
          </a:p>
          <a:p>
            <a:pPr lvl="1">
              <a:spcAft>
                <a:spcPts val="1000"/>
              </a:spcAft>
              <a:defRPr sz="1500">
                <a:solidFill>
                  <a:srgbClr val="B4B4B9"/>
                </a:solidFill>
                <a:latin typeface="맑은 고딕"/>
              </a:defRPr>
            </a:pPr>
            <a:r>
              <a:t>*단일 의존성*: 소화기 스폰 개수가 1개여서 투척 실패 시 대안이 없는 단일 실패점</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1E"/>
        </a:solidFill>
        <a:effectLst/>
      </p:bgPr>
    </p:bg>
    <p:spTree>
      <p:nvGrpSpPr>
        <p:cNvPr id="1" name=""/>
        <p:cNvGrpSpPr/>
        <p:nvPr/>
      </p:nvGrpSpPr>
      <p:grpSpPr/>
      <p:sp>
        <p:nvSpPr>
          <p:cNvPr id="2" name="TextBox 1"/>
          <p:cNvSpPr txBox="1"/>
          <p:nvPr/>
        </p:nvSpPr>
        <p:spPr>
          <a:xfrm>
            <a:off x="914400" y="731520"/>
            <a:ext cx="10362895" cy="914400"/>
          </a:xfrm>
          <a:prstGeom prst="rect">
            <a:avLst/>
          </a:prstGeom>
          <a:noFill/>
        </p:spPr>
        <p:txBody>
          <a:bodyPr wrap="square" lIns="0" tIns="0" rIns="0" bIns="0">
            <a:spAutoFit/>
          </a:bodyPr>
          <a:lstStyle/>
          <a:p>
            <a:pPr>
              <a:defRPr sz="2800" b="1">
                <a:solidFill>
                  <a:srgbClr val="FF6B6B"/>
                </a:solidFill>
                <a:latin typeface="맑은 고딕"/>
              </a:defRPr>
            </a:pPr>
            <a:r>
              <a:t>Slide 44: Q &amp; A</a:t>
            </a:r>
          </a:p>
        </p:txBody>
      </p:sp>
      <p:sp>
        <p:nvSpPr>
          <p:cNvPr id="3" name="TextBox 2"/>
          <p:cNvSpPr txBox="1"/>
          <p:nvPr/>
        </p:nvSpPr>
        <p:spPr>
          <a:xfrm>
            <a:off x="914400" y="2011680"/>
            <a:ext cx="10362895" cy="4114800"/>
          </a:xfrm>
          <a:prstGeom prst="rect">
            <a:avLst/>
          </a:prstGeom>
          <a:noFill/>
        </p:spPr>
        <p:txBody>
          <a:bodyPr wrap="square" lIns="0" tIns="0" rIns="0" bIns="0">
            <a:spAutoFit/>
          </a:bodyPr>
          <a:lstStyle/>
          <a:p>
            <a:pPr lvl="1">
              <a:spcAft>
                <a:spcPts val="1000"/>
              </a:spcAft>
              <a:defRPr sz="1500">
                <a:solidFill>
                  <a:srgbClr val="B4B4B9"/>
                </a:solidFill>
                <a:latin typeface="맑은 고딕"/>
              </a:defRPr>
            </a:pPr>
            <a:r>
              <a:t>**GitHub**: `https://github.com/yoonseonjae/hot-spot_isaac_sim`</a:t>
            </a:r>
          </a:p>
          <a:p>
            <a:pPr lvl="1">
              <a:spcAft>
                <a:spcPts val="1000"/>
              </a:spcAft>
              <a:defRPr sz="1500">
                <a:solidFill>
                  <a:srgbClr val="B4B4B9"/>
                </a:solidFill>
                <a:latin typeface="맑은 고딕"/>
              </a:defRPr>
            </a:pPr>
            <a:r>
              <a:t>**Q &amp; A**: 질문이 있으시면 성실히 답변해 드리겠습니다.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