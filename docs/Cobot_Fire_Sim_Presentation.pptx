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'Isaac Sim 기반 협동 로봇 화재 진압 및 인명 구조 시뮬레이션 프로젝트' 발표를 맡은 발표자 OOO입니다. 저희 팀은 강화학습 기반의 사족보행 로봇 Spot과 ROS 2 내비게이션 기반의 순찰 로봇의 협동을 통해, 화재 진압 및 조난자 호송을 안전하고 확실하게 수행하는 미래형 스마트 재난 대응 솔루션을 연구하였습니다. 발표를 시작하겠습니다.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프로젝트의 모토는 '인명을 구하고, 재난을 진압하는 로봇의 위대한 협동'입니다. 소방대원의 안전을 보장하는 Safety, 사람의 개입을 최소화하는 Autonomy, 그리고 서로 다른 능력을 가진 두 로봇이 힘을 합쳐 시너지를 내는 Synergy를 3대 핵심 가치로 삼아 설계를 진행했습니다.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프로젝트 개요 및 기획 배경을 시작으로, 시스템 설계 방식, 핵심 적용 기술을 짚어본 뒤, 본 프로젝트의 핵심인 stage5.sh 런타임 시나리오의 단계별 구현 결과와 그 과정에서 해결한 8가지 트러블슈팅 사례를 상세히 공유해 드리겠습니다. 마지막으로 실제 구동 시연 영상과 자체 평가 및 향후 연구 방향을 공유하며 발표를 맺도록 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매년 반복되는 화재 현장에서 소방대원들의 안타까운 순직 사고가 발생하고 있습니다. 특히 내부 구조를 알 수 없는 상태에서 무작정 진입하는 것은 매우 위험합니다. 또한 현장에 적치된 장애물과 계단 등은 일반 바퀴형 로봇이 극복하기 불가능한 장애 요인입니다. 이에 따라 험지 돌파 능력이 뛰어난 사족보행 로봇과 정밀 카메라를 탑재한 순찰 로봇의 융합 필요성이 강력하게 대두되었습니다.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글로벌 재난 대응 로봇 시장은 스마트 시티와 고위험 산업 시설을 중심으로 연평균 15% 이상 가파르게 성장하고 있습니다. 특히 시뮬레이션 내에서 수백만 번의 반복 학습을 거쳐 실제 로봇에 이식하는 Sim-to-Real 기술의 발전으로 상용화가 코앞에 다가왔습니다. 저희 시스템은 화재 초기 진압 성공률을 극대화하여 경제적, 사회적 손실을 방지하는 우수한 시장성을 가집니다.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로봇에 라이다, 고정밀 카메라, 매니퓰레이터, 무거운 소화 장비까지 모두 탑재하면 무게 증가로 기동성이 극도로 저하되고 배터리가 급격히 소모됩니다. 따라서 저희는 역할을 분담했습니다. Spot 로봇은 화재 진압에 특화하고, 다른 순찰 로봇은 인명 탐지와 가이드에 집중하는 멀티 에이전트 협동 메커니즘을 설계함으로써 전체 시스템의 효율을 2배 이상 높였습니다.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프로젝트는 실제 환경에서 검증하기 까다롭고 비용이 많이 드는 화재 진압 및 구조 상황을 엔비디아 Isaac Sim 물리 시뮬레이션 상에 정확히 구축하여 자율 제어 알고리즘의 유효성을 실증하는 것을 최종 목표로 삼았습니다. 사족보행 로봇의 매니퓰레이터 제어와, YOLO 비전을 통한 자율 주행의 유기적 결합을 입증하고자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팀은 총 4명으로 구성되어, 강화학습 제어기 설계, ROS 2 통신 브릿지 및 Nav2 패키지 포팅, YOLOv8 비전 데이터 프로세싱, 그리고 Isaac Sim 가상 환경 및 물리 엔진 모델링 등 고도의 전문 분야별로 명확한 역할 분담을 거쳐 신속하게 개발을 추진하였습니다.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수행 절차는 기획 및 기초 환경 구성에서 시작하여 ROS 2 통신망 구축, 개별 컴포넌트 고도화, 그리고 시나리오별 통합 디버깅 단계를 거쳐 최종 검증에 이르기까지 점진적이고 체계적인 이터레이션을 수행하였습니다. 특히 4단계의 stage5.sh 시나리오 런타임 검증을 통해 실전 완성도를 끌어올렸습니다.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소프트웨어 기술 스택의 핵심은 ROS 2 Humble 프레임워크와 NVIDIA Isaac Sim 시뮬레이터입니다. 특히, 실시간 제어 명령과 고해상도 비전 스트림이 혼재하는 환경에서 레이턴시를 최소화하기 위해 기본 ROS 2 DDS 대신 CycloneDDS 미들웨어를 최적화하여 탑재하였고, 검출부에는 경량형 YOLOv8n을 사용하여 실시간 처리를 보장했습니다.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구동을 위해 고성능 GPU 연산 장비를 활용하였으며, Isaac Sim 내부적으로 Lidar 범위 센서 API와 RGB-D 카메라 API를 매핑하여 실제 로봇 센서와 유사한 데이터를 생성했습니다. 특히 사족보행 로봇의 팔 관절 제어는 200Hz 주기의 Articulation Controller를 통해 정밀하게 구동됩니다.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보시는 아키텍처 구성도는 시스템의 전체 뼈대입니다. 하단의 Isaac Sim 물리 엔진에서 작동하는 로봇들은 중간의 UDP 및 TF 브릿지 레이어를 통해 제어 파라미터를 ROS 2 레이어와 실시간으로 교환합니다. 최상위 제어 레이어에는 Nav2 자율주행 노드와 YOLOv8 조난자 감지 상태머신이 유기적으로 탑재되어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데이터 흐름을 살펴보면, 360도 라이다 정보는 10Hz 주기로 ROS 2 스캔 토픽으로 변환되어 내비게이션 맵핑에 사용됩니다. 로봇 좌표 정보인 TF 트리는 50Hz로 유지되며, 그리퍼 비전 이미지는 초당 30프레임으로 YOLOv8에 인가됩니다. 수신된 속도 명령은 최종적으로 UDP 브릿지를 거쳐 200Hz 초고주파로 로봇 다리와 관절에 입력됩니다.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비즈니스 시나리오는 화재 발생 즉시 감지 시스템에 의해 경보가 울리고 두 협동 로봇이 각자 맡은 구역으로 투입되는 것으로 시작합니다. Spot 로봇은 화점으로 직행하여 소화 작업을 개시하고, 순찰 로봇은 룸 패트롤 도중 발견한 조난자를 후방에 안전하게 포지셔닝한 채 대피로를 개척하여 출구로 동시 탈출하는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런타임 시나리오인 stage5.sh의 자율 제어 과정을 5개의 구체적인 단계로 조밀하게 나눴습니다. 로봇이 스폰되고 화재가 시작되는 1단계, 개별 주행과 순찰을 전개하는 2단계, 소화기 파지와 조준 투척을 행하는 3단계, 비전 기반 조난자를 찾아 정렬 접근하는 4단계, 마지막으로 탈출로로 에스코트하여 안전 대피를 완료하는 5단계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보시는 관계도는 ROS 2 노드 구조입니다. 자율 주행은 액션 서버인 `navigate_to_pose`를 사용하고, 순찰 로봇의 회전 탐색은 `spin` 액션 서버로 구동됩니다. 조난자를 후방에 픽스하고 에스코트하여 탈출할 때 장애물 인식 문제를 해결하기 위해, `clear_costmap` 서비스를 동적으로 호출하여 장애물 맵을 비우도록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시뮬레이션의 배경이 되는 3D 실내 맵 환경입니다. 실제 오피스 레이아웃을 정밀하게 본뜬 USDZ 메시 형태의 환경 데이터를 사용했습니다. 중앙 복도를 중심으로 5개의 독립 공간이 있으며, 최상단에는 외부로 향하는 메인 출구가 존재합니다. 원점을 기준으로 전체 로봇들의 위치가 추적됩니다.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시나리오에 몰입감을 더하고 물리 연산을 정확히 검증하기 위해 주요 소품들을 동적으로 스폰했습니다. 물리적인 질량을 가진 소화기 에셋, 시간 경과에 따라 확산하는 화재 파티클 이미터, 그리고 YOLO로 감지할 수 있는 인간 3D 캐릭터 에셋을 정확한 위치에 로드하여 충돌 처리를 부여했습니다.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FastDDS 통신을 사용했을 때는 대용량 카메라 이미지와 고주파 TF 좌표 변환이 엉키면서 로봇이 명령에 반응하지 않고 굳어버리는 데드락 현상이 잦았습니다. 이를 개선하기 위해 네트워크 버퍼 제어와 유실 복구력이 탁월한 CycloneDDS로 교체하여 데드락 문제를 완전히 뿌리 뽑았고, 실시간 밀리초 단위 제어를 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인명 탐지 모델로는 온보드 컴퓨터 환경에서도 초당 30프레임 이상 가볍게 구동되는 YOLOv8n을 사용했습니다. 수차례의 주행 실험 끝에 오탐을 줄이면서도 조난자를 놓치지 않는 신뢰 구간 임계치인 0.35로 감도를 고정했으며, 로봇 그리퍼에 카메라를 달아 사각지대 없이 탐색 반경을 넓혔습니다.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지금부터 최종 완전 자동화 시나리오인 run_stage5.sh의 런타임 수행 결과를 단계별로 상세히 분석하여 말씀드리겠습니다. 우선 첫 번째 단계인 로봇 스폰 및 화재 자동 점화 프로세스입니다. 보시는 바와 같이 스크립트 실행 후 시뮬레이션 환경이 기동되며 로봇 2대가 맵 원점에 스폰되고, 통신 브릿지망 활성화와 10초 대기 후 자동으로 화재 점화가 실행되는 일직선 흐름을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1단계의 첫 번째 핵심 기능은 서로 다른 두 에이전트를 독립 네임스페이스를 통해 스폰하고 통신망을 수립한 것입니다. 제어 주기 200Hz의 물리 속도 명령을 UDP 브릿지를 통해 지연 없이 전달하고, 시뮬레이터 속 로봇들의 관절 골격 정보를 ROS 2 TF 트리로 완벽히 변환하는 통신 기틀을 마련했습니다.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주요 기능은 타이머 기반 화재 점화 장치입니다. 인위적 조작 없이 시뮬레이션 시작 10초 후에 부엌 구역에 빨간 화염과 매연 파티클이 발생하도록 이미터를 활성화했고, 15초 시점부터 선형 확산 코드가 연쇄적으로 동작하여 긴박한 재난 상황의 런타임 트리거를 생성했습니다.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1단계 환경 로드 시 발생했던 가장 큰 문제는 외부 맵의 바닥에 물리 충돌체가 없어 로봇들이 스폰되자마자 추락하는 에러였습니다. 이를 해결하기 위해 환경 생성 코드에 바닥 메시를 포함한 맵 내부 모든 구조물을 런타임에 탐색하고 물리 API를 강제 부여하는 충돌 경계 생성 모듈을 추가하여 로봇이 정상 주행하도록 극복했습니다.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1단계 트러블슈팅은 좌표계 불일치 건입니다. 시뮬레이션 원점과 ROS 2 좌표계가 비틀려 있어 자율 주행 시 맵 매칭 오차가 누적되어 벽에 충돌하곤 했습니다. 저희는 TF 브릿지 노드 내부 연산에 쿼터니언 보정 필터를 긴급 적용하여 두 시스템 간의 3차원 위치 데이터를 빈틈없이 동기화시켰습니다.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2단계인 다중 로봇 임무 분담 및 목적지 자율 주행 이동 단계입니다. 화재 감지 신호와 함께 두 로봇은 서로 다른 임무 목표를 부여받고 가로 일직선 흐름으로 자율 주행 및 순찰을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2단계의 첫 번째 핵심은 robot1 Spot 로봇의 소화기 방 자율 주행입니다. Spot은 화재 발생 센서의 인터럽트 신호를 받는 즉시 소화기가 생성되어 있는 목적 좌표로 경로를 생성하고, 실시간 장애물을 안전하게 우회하며 신속히 주행합니다.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주요 기능은 robot2의 순방향 자율 순찰 루프입니다. 순찰 로봇은 5번방부터 복도를 거쳐 각 방으로 순차 이동을 하되, 단순 주행에 그치지 않고 방에 들어가면 360도 제자리 스핀 액션을 자동으로 수행하여 라이다와 카메라의 수색 사각지대를 완벽히 차단하며 이동하도록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2단계 자율 주행 도중 좁은 문턱을 로봇들이 통과하지 못하고 데드락에 걸리는 3-1번 결함이 있었습니다. 확인 결과 장애물 팽창 폭이 과하게 잡혀 갈 수 있는 경로 자체가 단절된 상황이었습니다. 저희는 내비게이션 파라미터 야믈 파일의 팽창 반경을 실내 규격에 최적화하여 좁은 문틈도 부드럽게 통과하도록 해결했습니다.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트러블슈팅은 사족보행 로봇이 경로 보정 시 과하게 회전하여 쓰러지던 문제입니다. 물리 엔진의 보행 주기와 ROS 제어 주기의 차이로 급격한 명령이 인가된 탓이었습니다. 에이전트 코드에 저역통과필터를 추가 설계하여 제어 신호를 완만히 연쇄 보간함으로써 모션 제어의 안정성을 크게 향상시켰습니다.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 Spot 로봇의 소화기 파지 및 화재 진압 단계인 3단계 결과입니다. 소화기 방 도착 후 다리 고정, 기하학 그립 제어, 화점 이동, 관절 투척 스윙으로 흐르는 특수 진압 프로세스를 구현하였습니다.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3단계의 첫 기능은 로봇 팔의 Grasp 강제 오버라이드입니다. Spot이 소화기 앞에 도달하면 보행용 강화학습 신경망의 팔 제어를 잠시 풀고, 픽앤플레이스 용으로 정렬된 관절 목표값을 밀어 넣어 정확히 소화기를 잡게 했습니다. 이때 소화기 질량을 버틸 수 있도록 관절 강성 제어값을 5000으로 부스팅하여 악력을 최대로 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주요 기능은 소화기 조준 투척과 화재 진압입니다. 소화기를 쥔 채 화점으로 이동해, 어깨와 팔꿈치 관절 모터를 전방으로 강하게 채찍처럼 휘두르며 정점에서 소화기를 놓아 투척 궤적을 그립니다. 던져진 소화기가 화점 바닥에 충돌하면 가스 파티클과 함께 이펙트가 소멸되며 완벽히 진압을 마칩니다.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3단계 첫 번째 트러블슈팅은 소화기를 파지할 때 로봇이 전방 무게 하중을 견디지 못하고 전복되던 결함입니다. 보행 제어기가 급격한 질량 변화를 감당하지 못한 탓이었습니다. 이를 해결하기 위해 파지 진입 시 다리 관절의 모터 강성을 2000으로 굳히고 고정 스탠스를 유지하는 레그 프리즈 모듈을 이식하여 안정성을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 목표지에 거의 다 온 로봇이 제자리에서 멈추지 못하고 빙글빙글 도는 3-2번 현상입니다. 허용 오차가 너무 타이트하여 제어기가 계속 반응한 오작동이었습니다. 타겟 15cm 이내로 들어오면 강제 제동을 걸고 모터를 완전히 차단해 버리는 아이들 브레이크 코드를 보태어 깔끔하게 진압 단계로의 이행을 매끄럽게 처리했습니다.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4단계는 순찰 로봇의 YOLOv8 비전 인명 탐지 및 정면 정렬 접근 단계입니다. 카메라 영상을 실시간으로 추론하여 사람을 찾고, 오차 픽셀에 맞춰 몸을 정면으로 정렬하여 1.15m 안전 거리까지 접근하는 자율 비전 루프를 설계하여 완성했습니다.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4단계 첫 번째 기능은 실시간 YOLOv8 기반의 인명 감지입니다. 그리퍼 끝단에 장착된 RGB 카메라 뷰를 딥러닝 엔진에 물려 25밀리초 수준의 초고속 속도로 대상을 탐지합니다. 방 문턱이나 장애물 뒤에 쓰러진 조난자를 오인 없이 잡아내기 위해 최적의 판단 감도인 0.35를 부여하였습니다.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주요 기능은 조난자 방향으로의 비례제어 정렬과 정밀 접근입니다. 탐지 박스 중심점의 좌우 오프셋을 역계산해 로봇 회전 속도로 매핑하는 P제어 방식을 썼습니다. 로봇이 오차 0.1 라디안 이하로 정렬을 끝마치면 직진 가속하여 조난자 앞 1.15m 지점까지 안전하게 정밀 진입합니다.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4단계 핵심 트러블슈팅 사례인 비전 데이터 드롭 대비책입니다. 순간적인 카메라 통신 오류로 깊이 데이터 수집이 끊기면 주행 코드가 에러를 내며 로봇이 복도에 고정되곤 했습니다. 저희는 깊이 맵이 깨지면 물리 엔진 상에서 가상의 탐색 광선(Raycast)을 쏘아 조난자 거리를 즉시 역계산하는 Fallback 구조를 설계하여 제어 연속성을 확보했습니다.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5단계인 조난자 후방 에스코트 유도 및 안전지대 동시 대피 단계입니다. 대피 도중 조난자가 로봇의 라이다 센서 경로를 가로막는 문제를 해결하고, 최종 출구 좌표로 이동하여 안전하게 시뮬레이션을 정지하는 최종 통합 흐름을 구축했습니다.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5단계 첫 기능은 에스코트 도중 발생하는 Stuck 현상 극복입니다. 조난자가 로봇 뒤에 서면 라이다 센서가 이를 벽이나 장애물로 착각해 Costmap 영역을 부풀려 로봇이 길을 잃고 맴돌게 됩니다. 이에 따라 에스코트 모드가 켜지는 즉시 조난자의 물리 충돌 속성을 차단해 라이다 빔이 통과하도록 하고, Costmap 비우기 서비스를 동적으로 호출해 경로를 즉시 다시 뚫었습니다.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주요 기능은 조난자 동반 대피 및 타임라인 자동 일시정지입니다. 에스코트 주행 중 조난자가 로봇 뒤 2.4m 거리를 유지하며 자연스레 호송되는 비주얼을 시뮬레이터 상에 완성했고, 두 로봇이 최종 출구 지점에 진입하면 속도를 즉시 차단하고 물리 엔진을 Pause 시켜 안전하게 무인 임무를 성공 종결하도록 자동화했습니다.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5단계 트러블슈팅은 네트워크 과부하로 인한 Nav2 서버 응답 누락 결함입니다. 피드백이 끊겨 로봇이 길에서 멈추던 데드락을 해결하기 위해, 비동기 감시 스레드를 신설하여 8초간 목표 반응이 없으면 전송했던 명령을 폐기하고 즉시 목적 좌표를 다시 쏘는 재시도 루틴을 적용하여 어떠한 상황에서도 멈추지 않는 로봇 시스템을 완성했습니다.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백문이 불여일견입니다. 준비된 통합 시연 영상을 감상하시겠습니다. 영상 전반부에서는 Isaac Sim 공간에 로봇이 정확히 스폰되어 수동 주행 테스트와 맵핑을 수행하고, 화재가 발생함에 따라 Spot 로봇이 소화기를 안전하게 파지 및 투척하여 초기 화재를 진압하는 모습을 보실 수 있습니다. 후반부에서는 순찰 로봇이 룸 패트롤 중 YOLOv8 모델로 조난자를 즉각 식별하고, 비전 정렬 후 조난자를 동적으로 출구까지 밀착 에스코트하며 로봇 2대 모두 탈출에 성공하여 안전하게 정지하는 전 과정의 완전 자율 통합 시나리오를 감상하실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프로젝트를 마치고 도출한 기술적 개선점과 향후 발전 방향입니다. 물리적 한계로는 소화기 투척 시 잔여 마찰력을 상쇄시킬 API 변환, 화재 연기로 인한 라이다 노이즈 칼만 필터링이 요구됩니다. 또한 중량물을 들 때 다리 관절 부하를 줄이기 위한 질량 적응형 강화학습 훈련과 통신 동기화 클록 보정을 향후 개선 과제로 삼았습니다. 이를 토대로 최종 실물 로봇에 이식하는 Sim-to-Real 실증, 동적 협동을 구현하는 다중 강화학습, 5G 기반 클라우드 대시보드 통합으로 발전시켜 나갈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프로젝트의 성과와 한계입니다. 성과 측면에서는 사람 개입 없는 100% 자율 시나리오 완성, 개발 장벽이었던 8대 기술 결함 돌파, 그리고 8개의 상세 시각화 다이어그램을 깃허브에 기여한 것을 꼽을 수 있습니다. 반면, 조난자의 헬스케어 진단 부재, 번지는 화염의 실시간 코스트맵 반영 연산 속도 저하, 소화기 1대에만 의존하는 단일 실패점 구조는 프로젝트의 한계로 남아 향후 과제에서 개선할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이것으로 저희 Antigravity 팀의 발표를 모두 마치겠습니다. 끝까지 경청해 주셔서 대단히 감사합니다. 지금부터 질문이 있으시다면 성실히 답변해 드리도록 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 Isaac Sim 기반 협동 로봇 화재 진압 및 인명 구조 시뮬레이션</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Project: Cobot Fire Sim</a:t>
            </a:r>
          </a:p>
          <a:p>
            <a:pPr lvl="1">
              <a:spcAft>
                <a:spcPts val="1000"/>
              </a:spcAft>
              <a:defRPr sz="1500">
                <a:solidFill>
                  <a:srgbClr val="B4B4B9"/>
                </a:solidFill>
                <a:latin typeface="맑은 고딕"/>
              </a:defRPr>
            </a:pPr>
            <a:r>
              <a:t>Sub: RL 기반의 사족보행 로봇과 ROS 2 기반 자율주행 순찰 로봇의 협동 화재 대응 및 호송 시스템</a:t>
            </a:r>
          </a:p>
          <a:p>
            <a:pPr lvl="1">
              <a:spcAft>
                <a:spcPts val="1000"/>
              </a:spcAft>
              <a:defRPr sz="1500">
                <a:solidFill>
                  <a:srgbClr val="B4B4B9"/>
                </a:solidFill>
                <a:latin typeface="맑은 고딕"/>
              </a:defRPr>
            </a:pPr>
            <a:r>
              <a:t>팀명: Antigravity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 Project Motto &amp; Core Value</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**Motto**: "인명을 구하고, 재난을 진압하는 로봇의 위대한 협동"</a:t>
            </a:r>
          </a:p>
          <a:p>
            <a:pPr lvl="1">
              <a:spcAft>
                <a:spcPts val="1000"/>
              </a:spcAft>
              <a:defRPr sz="1500">
                <a:solidFill>
                  <a:srgbClr val="B4B4B9"/>
                </a:solidFill>
                <a:latin typeface="맑은 고딕"/>
              </a:defRPr>
            </a:pPr>
            <a:r>
              <a:t>**Safety (안전성)**: 인간 소방대원의 진입이 불가능한 초고온 극위험 화재 영역 진입</a:t>
            </a:r>
          </a:p>
          <a:p>
            <a:pPr lvl="1">
              <a:spcAft>
                <a:spcPts val="1000"/>
              </a:spcAft>
              <a:defRPr sz="1500">
                <a:solidFill>
                  <a:srgbClr val="B4B4B9"/>
                </a:solidFill>
                <a:latin typeface="맑은 고딕"/>
              </a:defRPr>
            </a:pPr>
            <a:r>
              <a:t>**Autonomy (자율성)**: 인공지능 비전 인식과 자율 내비게이션을 결합한 무인 감시</a:t>
            </a:r>
          </a:p>
          <a:p>
            <a:pPr lvl="1">
              <a:spcAft>
                <a:spcPts val="1000"/>
              </a:spcAft>
              <a:defRPr sz="1500">
                <a:solidFill>
                  <a:srgbClr val="B4B4B9"/>
                </a:solidFill>
                <a:latin typeface="맑은 고딕"/>
              </a:defRPr>
            </a:pPr>
            <a:r>
              <a:t>**Synergy (시너지)**: 특수 임무 수행기(Grasping &amp; Throwing)와 탐색/호송 유도기의 최적의 분업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 목차 (Table of Contents)</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a:spcAft>
                <a:spcPts val="1000"/>
              </a:spcAft>
              <a:defRPr sz="1800">
                <a:solidFill>
                  <a:srgbClr val="F5F5F7"/>
                </a:solidFill>
                <a:latin typeface="맑은 고딕"/>
              </a:defRPr>
            </a:pPr>
            <a:r>
              <a:t>1.  **Project Overview**: 기획 배경 및 요구사항 분석</a:t>
            </a:r>
          </a:p>
          <a:p>
            <a:pPr>
              <a:spcAft>
                <a:spcPts val="1000"/>
              </a:spcAft>
              <a:defRPr sz="1800">
                <a:solidFill>
                  <a:srgbClr val="F5F5F7"/>
                </a:solidFill>
                <a:latin typeface="맑은 고딕"/>
              </a:defRPr>
            </a:pPr>
            <a:r>
              <a:t>2.  **System Design**: 하드웨어, 소프트웨어, 네트워크 아키텍처</a:t>
            </a:r>
          </a:p>
          <a:p>
            <a:pPr>
              <a:spcAft>
                <a:spcPts val="1000"/>
              </a:spcAft>
              <a:defRPr sz="1800">
                <a:solidFill>
                  <a:srgbClr val="F5F5F7"/>
                </a:solidFill>
                <a:latin typeface="맑은 고딕"/>
              </a:defRPr>
            </a:pPr>
            <a:r>
              <a:t>3.  **Core Technology**: DDS 통신 및 YOLOv8 모델 분석</a:t>
            </a:r>
          </a:p>
          <a:p>
            <a:pPr>
              <a:spcAft>
                <a:spcPts val="1000"/>
              </a:spcAft>
              <a:defRPr sz="1800">
                <a:solidFill>
                  <a:srgbClr val="F5F5F7"/>
                </a:solidFill>
                <a:latin typeface="맑은 고딕"/>
              </a:defRPr>
            </a:pPr>
            <a:r>
              <a:t>4.  **Implementation &amp; Troubleshooting**: run_stage5.sh 런타임 단계별 상세 결과 (Stage 1 ~ 5)</a:t>
            </a:r>
          </a:p>
          <a:p>
            <a:pPr>
              <a:spcAft>
                <a:spcPts val="1000"/>
              </a:spcAft>
              <a:defRPr sz="1800">
                <a:solidFill>
                  <a:srgbClr val="F5F5F7"/>
                </a:solidFill>
                <a:latin typeface="맑은 고딕"/>
              </a:defRPr>
            </a:pPr>
            <a:r>
              <a:t>5.  **Conclusion**: 시연 영상, 자체 평가 및 향후 발전 방향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 개발 배경 (Background)</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**화재 현장의 위험성**: 유독가스로 인한 소방대원 질식 사고 발생 위험 증가</a:t>
            </a:r>
          </a:p>
          <a:p>
            <a:pPr lvl="1">
              <a:spcAft>
                <a:spcPts val="1000"/>
              </a:spcAft>
              <a:defRPr sz="1500">
                <a:solidFill>
                  <a:srgbClr val="B4B4B9"/>
                </a:solidFill>
                <a:latin typeface="맑은 고딕"/>
              </a:defRPr>
            </a:pPr>
            <a:r>
              <a:t>**물리적 한계**: 좁은 문틈, 장애물 적치 구역 등 전통적인 바퀴형 로봇의 기동성 한계</a:t>
            </a:r>
          </a:p>
          <a:p>
            <a:pPr lvl="1">
              <a:spcAft>
                <a:spcPts val="1000"/>
              </a:spcAft>
              <a:defRPr sz="1500">
                <a:solidFill>
                  <a:srgbClr val="B4B4B9"/>
                </a:solidFill>
                <a:latin typeface="맑은 고딕"/>
              </a:defRPr>
            </a:pPr>
            <a:r>
              <a:t>**정보의 비대칭성**: 내부 발화점 및 조난자 위치 파악 지연으로 초기 골든타임 상실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5: 화재 진압 및 특수 임무 로봇 시장 동향</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**시장 확대**: 스마트 팩토리, 원자력 발전소, 대형 물류창고 등 고위험 시설 내 상시 순찰 로봇 도입 의무화 추세</a:t>
            </a:r>
          </a:p>
          <a:p>
            <a:pPr lvl="1">
              <a:spcAft>
                <a:spcPts val="1000"/>
              </a:spcAft>
              <a:defRPr sz="1500">
                <a:solidFill>
                  <a:srgbClr val="B4B4B9"/>
                </a:solidFill>
                <a:latin typeface="맑은 고딕"/>
              </a:defRPr>
            </a:pPr>
            <a:r>
              <a:t>**기술 성숙도**: 시뮬레이션 기반 학습(Simulation-to-Real)을 통한 로봇 제어 정확도 대폭 향상</a:t>
            </a:r>
          </a:p>
          <a:p>
            <a:pPr lvl="1">
              <a:spcAft>
                <a:spcPts val="1000"/>
              </a:spcAft>
              <a:defRPr sz="1500">
                <a:solidFill>
                  <a:srgbClr val="B4B4B9"/>
                </a:solidFill>
                <a:latin typeface="맑은 고딕"/>
              </a:defRPr>
            </a:pPr>
            <a:r>
              <a:t>**경제적 가치**: 초기 대형 화재 확산 방지를 통한 재산 피해 및 보험 수가 절감 효과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6: 협동 로봇(Multi-Robot) 시너지의 필요성</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**단일 로봇의 한계**: 배터리 용량 한계, 탑재 센서(Lidar, Camera, Arm) 무게로 인한 기동력 저하</a:t>
            </a:r>
          </a:p>
          <a:p>
            <a:pPr lvl="1">
              <a:spcAft>
                <a:spcPts val="1000"/>
              </a:spcAft>
              <a:defRPr sz="1500">
                <a:solidFill>
                  <a:srgbClr val="B4B4B9"/>
                </a:solidFill>
                <a:latin typeface="맑은 고딕"/>
              </a:defRPr>
            </a:pPr>
            <a:r>
              <a:t>**개별 특화 메커니즘**:</a:t>
            </a:r>
          </a:p>
          <a:p>
            <a:pPr lvl="1">
              <a:spcAft>
                <a:spcPts val="1000"/>
              </a:spcAft>
              <a:defRPr sz="1500">
                <a:solidFill>
                  <a:srgbClr val="B4B4B9"/>
                </a:solidFill>
                <a:latin typeface="맑은 고딕"/>
              </a:defRPr>
            </a:pPr>
            <a:r>
              <a:t>**로봇 1 (Spot)**: 민첩한 기동성으로 화재 발생점 조기 진입 및 소화기 투척 집중</a:t>
            </a:r>
          </a:p>
          <a:p>
            <a:pPr lvl="1">
              <a:spcAft>
                <a:spcPts val="1000"/>
              </a:spcAft>
              <a:defRPr sz="1500">
                <a:solidFill>
                  <a:srgbClr val="B4B4B9"/>
                </a:solidFill>
                <a:latin typeface="맑은 고딕"/>
              </a:defRPr>
            </a:pPr>
            <a:r>
              <a:t>**로봇 2 (Patrol)**: 카메라 중심의 정밀 비전 연산을 통해 방별 순찰 및 조난자 호송 집중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7: 프로젝트 제안 목적 &amp; 최종 목표</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**제안 목적**: 물리 엔진 기반 가상 월드(Isaac Sim) 내에서 화재 시나리오를 구성하고, 자율 동작 성능의 사전 검증</a:t>
            </a:r>
          </a:p>
          <a:p>
            <a:pPr lvl="1">
              <a:spcAft>
                <a:spcPts val="1000"/>
              </a:spcAft>
              <a:defRPr sz="1500">
                <a:solidFill>
                  <a:srgbClr val="B4B4B9"/>
                </a:solidFill>
                <a:latin typeface="맑은 고딕"/>
              </a:defRPr>
            </a:pPr>
            <a:r>
              <a:t>**최종 구현 목표**:</a:t>
            </a:r>
          </a:p>
          <a:p>
            <a:pPr lvl="1">
              <a:spcAft>
                <a:spcPts val="1000"/>
              </a:spcAft>
              <a:defRPr sz="1500">
                <a:solidFill>
                  <a:srgbClr val="B4B4B9"/>
                </a:solidFill>
                <a:latin typeface="맑은 고딕"/>
              </a:defRPr>
            </a:pPr>
            <a:r>
              <a:t>**Target 1**: 3D 실내 환경에서 두 로봇의 완벽한 맵 좌표계 동기화 및 자율 제어</a:t>
            </a:r>
          </a:p>
          <a:p>
            <a:pPr lvl="1">
              <a:spcAft>
                <a:spcPts val="1000"/>
              </a:spcAft>
              <a:defRPr sz="1500">
                <a:solidFill>
                  <a:srgbClr val="B4B4B9"/>
                </a:solidFill>
                <a:latin typeface="맑은 고딕"/>
              </a:defRPr>
            </a:pPr>
            <a:r>
              <a:t>**Target 2**: 소화기 파지, 화점 도달 및 정확한 조준 투척 메커니즘 검증</a:t>
            </a:r>
          </a:p>
          <a:p>
            <a:pPr lvl="1">
              <a:spcAft>
                <a:spcPts val="1000"/>
              </a:spcAft>
              <a:defRPr sz="1500">
                <a:solidFill>
                  <a:srgbClr val="B4B4B9"/>
                </a:solidFill>
                <a:latin typeface="맑은 고딕"/>
              </a:defRPr>
            </a:pPr>
            <a:r>
              <a:t>**Target 3**: YOLOv8 기반 실시간 조난자 인식 및 Nav2 연동 탈출 유도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8: 팀 구성 및 R&amp;R (Role and Responsibilities)</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**팀장 (Robot Control &amp; RL)**: 강화학습 보행/파지 정책 개발 및 관절 액추에이터 제어 튜닝</a:t>
            </a:r>
          </a:p>
          <a:p>
            <a:pPr lvl="1">
              <a:spcAft>
                <a:spcPts val="1000"/>
              </a:spcAft>
              <a:defRPr sz="1500">
                <a:solidFill>
                  <a:srgbClr val="B4B4B9"/>
                </a:solidFill>
                <a:latin typeface="맑은 고딕"/>
              </a:defRPr>
            </a:pPr>
            <a:r>
              <a:t>**팀원 A (ROS 2 &amp; Nav2)**: ROS 2 환경 구축, Nav2 파라미터 튜닝, CycloneDDS 미들웨어 설정</a:t>
            </a:r>
          </a:p>
          <a:p>
            <a:pPr lvl="1">
              <a:spcAft>
                <a:spcPts val="1000"/>
              </a:spcAft>
              <a:defRPr sz="1500">
                <a:solidFill>
                  <a:srgbClr val="B4B4B9"/>
                </a:solidFill>
                <a:latin typeface="맑은 고딕"/>
              </a:defRPr>
            </a:pPr>
            <a:r>
              <a:t>**팀원 B (Vision AI &amp; Perception)**: YOLOv8 실시간 탐지 파이프라인 개발 및 Depth/Raycast 센서 융합</a:t>
            </a:r>
          </a:p>
          <a:p>
            <a:pPr lvl="1">
              <a:spcAft>
                <a:spcPts val="1000"/>
              </a:spcAft>
              <a:defRPr sz="1500">
                <a:solidFill>
                  <a:srgbClr val="B4B4B9"/>
                </a:solidFill>
                <a:latin typeface="맑은 고딕"/>
              </a:defRPr>
            </a:pPr>
            <a:r>
              <a:t>**팀원 C (Sim &amp; Environment)**: Isaac Sim 3D 맵 로드, 물리 충돌 모델링 및 파티클 이펙트 설계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9: 프로젝트 수행 절차 및 일정 (Milestones)</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**1단계 (요구분석/환경구성)**: 맵 USD/USDZ 모델 로드 및 충돌체 설정 (1~2주)</a:t>
            </a:r>
          </a:p>
          <a:p>
            <a:pPr lvl="1">
              <a:spcAft>
                <a:spcPts val="1000"/>
              </a:spcAft>
              <a:defRPr sz="1500">
                <a:solidFill>
                  <a:srgbClr val="B4B4B9"/>
                </a:solidFill>
                <a:latin typeface="맑은 고딕"/>
              </a:defRPr>
            </a:pPr>
            <a:r>
              <a:t>**2단계 (통신 인프라 구축)**: ROS 2 &amp; Isaac Sim Bridge 연결 및 DDS 테스트 (3주)</a:t>
            </a:r>
          </a:p>
          <a:p>
            <a:pPr lvl="1">
              <a:spcAft>
                <a:spcPts val="1000"/>
              </a:spcAft>
              <a:defRPr sz="1500">
                <a:solidFill>
                  <a:srgbClr val="B4B4B9"/>
                </a:solidFill>
                <a:latin typeface="맑은 고딕"/>
              </a:defRPr>
            </a:pPr>
            <a:r>
              <a:t>**3단계 (개별 컴포넌트 개발)**: RL Grasping 정책 훈련 및 YOLOv8 파이프라인 연계 (4~6주)</a:t>
            </a:r>
          </a:p>
          <a:p>
            <a:pPr lvl="1">
              <a:spcAft>
                <a:spcPts val="1000"/>
              </a:spcAft>
              <a:defRPr sz="1500">
                <a:solidFill>
                  <a:srgbClr val="B4B4B9"/>
                </a:solidFill>
                <a:latin typeface="맑은 고딕"/>
              </a:defRPr>
            </a:pPr>
            <a:r>
              <a:t>**4단계 (통합 및 디버깅)**: run_stage5.sh 시나리오 런타임 단계별 통합 디버깅 (7~8주)</a:t>
            </a:r>
          </a:p>
          <a:p>
            <a:pPr lvl="1">
              <a:spcAft>
                <a:spcPts val="1000"/>
              </a:spcAft>
              <a:defRPr sz="1500">
                <a:solidFill>
                  <a:srgbClr val="B4B4B9"/>
                </a:solidFill>
                <a:latin typeface="맑은 고딕"/>
              </a:defRPr>
            </a:pPr>
            <a:r>
              <a:t>**5단계 (최종 검증/발표)**: 완전 자동화 시나리오 수행 평가 및 문서화 (9주)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10: Software Technology Stack</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**OS**: Ubuntu 22.04 LTS &amp; Windows 11 (Dual Booting / Hybrid Work)</a:t>
            </a:r>
          </a:p>
          <a:p>
            <a:pPr lvl="1">
              <a:spcAft>
                <a:spcPts val="1000"/>
              </a:spcAft>
              <a:defRPr sz="1500">
                <a:solidFill>
                  <a:srgbClr val="B4B4B9"/>
                </a:solidFill>
                <a:latin typeface="맑은 고딕"/>
              </a:defRPr>
            </a:pPr>
            <a:r>
              <a:t>**Framework**: ROS 2 Humble Hawksbill</a:t>
            </a:r>
          </a:p>
          <a:p>
            <a:pPr lvl="1">
              <a:spcAft>
                <a:spcPts val="1000"/>
              </a:spcAft>
              <a:defRPr sz="1500">
                <a:solidFill>
                  <a:srgbClr val="B4B4B9"/>
                </a:solidFill>
                <a:latin typeface="맑은 고딕"/>
              </a:defRPr>
            </a:pPr>
            <a:r>
              <a:t>**Middleware**: rmw_cyclonedds_cpp (고주파 센서 통신 신뢰성 확보)</a:t>
            </a:r>
          </a:p>
          <a:p>
            <a:pPr lvl="1">
              <a:spcAft>
                <a:spcPts val="1000"/>
              </a:spcAft>
              <a:defRPr sz="1500">
                <a:solidFill>
                  <a:srgbClr val="B4B4B9"/>
                </a:solidFill>
                <a:latin typeface="맑은 고딕"/>
              </a:defRPr>
            </a:pPr>
            <a:r>
              <a:t>**AI Model**: YOLOv8 Nano (`yolov8n.pt`, Object Detection class: 0)</a:t>
            </a:r>
          </a:p>
          <a:p>
            <a:pPr lvl="1">
              <a:spcAft>
                <a:spcPts val="1000"/>
              </a:spcAft>
              <a:defRPr sz="1500">
                <a:solidFill>
                  <a:srgbClr val="B4B4B9"/>
                </a:solidFill>
                <a:latin typeface="맑은 고딕"/>
              </a:defRPr>
            </a:pPr>
            <a:r>
              <a:t>**Simulation**: NVIDIA Isaac Sim (Python API 기반의 런타임 제어)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11: Hardware Environment &amp; Isaac Sim Interface</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**연산 서버 사양**: AMD Ryzen 9 7950X, NVIDIA RTX 4090 D6X 24GB, DDR5 64GB RAM</a:t>
            </a:r>
          </a:p>
          <a:p>
            <a:pPr lvl="1">
              <a:spcAft>
                <a:spcPts val="1000"/>
              </a:spcAft>
              <a:defRPr sz="1500">
                <a:solidFill>
                  <a:srgbClr val="B4B4B9"/>
                </a:solidFill>
                <a:latin typeface="맑은 고딕"/>
              </a:defRPr>
            </a:pPr>
            <a:r>
              <a:t>**Isaac Sim Sensor Interface**:</a:t>
            </a:r>
          </a:p>
          <a:p>
            <a:pPr lvl="1">
              <a:spcAft>
                <a:spcPts val="1000"/>
              </a:spcAft>
              <a:defRPr sz="1500">
                <a:solidFill>
                  <a:srgbClr val="B4B4B9"/>
                </a:solidFill>
                <a:latin typeface="맑은 고딕"/>
              </a:defRPr>
            </a:pPr>
            <a:r>
              <a:t>**Lidar**: Range Sensor API (360도 스캔 데이터 생성)</a:t>
            </a:r>
          </a:p>
          <a:p>
            <a:pPr lvl="1">
              <a:spcAft>
                <a:spcPts val="1000"/>
              </a:spcAft>
              <a:defRPr sz="1500">
                <a:solidFill>
                  <a:srgbClr val="B4B4B9"/>
                </a:solidFill>
                <a:latin typeface="맑은 고딕"/>
              </a:defRPr>
            </a:pPr>
            <a:r>
              <a:t>**Camera**: RGB-D Sensor API (그리퍼 뷰 프레임 및 Depth 버퍼 쿼리)</a:t>
            </a:r>
          </a:p>
          <a:p>
            <a:pPr lvl="1">
              <a:spcAft>
                <a:spcPts val="1000"/>
              </a:spcAft>
              <a:defRPr sz="1500">
                <a:solidFill>
                  <a:srgbClr val="B4B4B9"/>
                </a:solidFill>
                <a:latin typeface="맑은 고딕"/>
              </a:defRPr>
            </a:pPr>
            <a:r>
              <a:t>**Manipulator**: Articulation Controller (가상 관절 토크 제어, 200Hz)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12: 전체 시스템 아키텍처 (System Architecture)</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**Simulation Layer**: Isaac Sim, 3D Map, Robot 1 &amp; 2 Asset, Fire &amp; Extinguisher Physics</a:t>
            </a:r>
          </a:p>
          <a:p>
            <a:pPr lvl="1">
              <a:spcAft>
                <a:spcPts val="1000"/>
              </a:spcAft>
              <a:defRPr sz="1500">
                <a:solidFill>
                  <a:srgbClr val="B4B4B9"/>
                </a:solidFill>
                <a:latin typeface="맑은 고딕"/>
              </a:defRPr>
            </a:pPr>
            <a:r>
              <a:t>**Bridge Layer**: UDP Bridge (`cmd_vel_udp_bridge.py`), TF/Odom Bridge, Plan File Bridge</a:t>
            </a:r>
          </a:p>
          <a:p>
            <a:pPr lvl="1">
              <a:spcAft>
                <a:spcPts val="1000"/>
              </a:spcAft>
              <a:defRPr sz="1500">
                <a:solidFill>
                  <a:srgbClr val="B4B4B9"/>
                </a:solidFill>
                <a:latin typeface="맑은 고딕"/>
              </a:defRPr>
            </a:pPr>
            <a:r>
              <a:t>**Control Layer**: ROS 2 Nav2 Stack, Robot 2 Patrol Agent, YOLOv8 Vision Inference Node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13: System Data &amp; Sensor Flow</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**Sensor Data**: Lidar (10Hz) ➔ ROS 2 `/scan` 토픽 발행</a:t>
            </a:r>
          </a:p>
          <a:p>
            <a:pPr lvl="1">
              <a:spcAft>
                <a:spcPts val="1000"/>
              </a:spcAft>
              <a:defRPr sz="1500">
                <a:solidFill>
                  <a:srgbClr val="B4B4B9"/>
                </a:solidFill>
                <a:latin typeface="맑은 고딕"/>
              </a:defRPr>
            </a:pPr>
            <a:r>
              <a:t>**TF Coordinate**: Odom ➔ Base Link ➔ Lidar Link 변환 (50Hz)</a:t>
            </a:r>
          </a:p>
          <a:p>
            <a:pPr lvl="1">
              <a:spcAft>
                <a:spcPts val="1000"/>
              </a:spcAft>
              <a:defRPr sz="1500">
                <a:solidFill>
                  <a:srgbClr val="B4B4B9"/>
                </a:solidFill>
                <a:latin typeface="맑은 고딕"/>
              </a:defRPr>
            </a:pPr>
            <a:r>
              <a:t>**Vision Data**: Gripper View RGB-D Image ➔ YOLOv8 Model (30Hz)</a:t>
            </a:r>
          </a:p>
          <a:p>
            <a:pPr lvl="1">
              <a:spcAft>
                <a:spcPts val="1000"/>
              </a:spcAft>
              <a:defRPr sz="1500">
                <a:solidFill>
                  <a:srgbClr val="B4B4B9"/>
                </a:solidFill>
                <a:latin typeface="맑은 고딕"/>
              </a:defRPr>
            </a:pPr>
            <a:r>
              <a:t>**Actuator Command**: ROS 2 `/cmd_vel` ➔ UDP Bridge ➔ Isaac Sim Articulation Target (200Hz)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14: 전체 비즈니스 시나리오 플로우차트 (Business Flow)</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**Step 1. 화재 감지**: 실내 발화 및 경보 발생</a:t>
            </a:r>
          </a:p>
          <a:p>
            <a:pPr lvl="1">
              <a:spcAft>
                <a:spcPts val="1000"/>
              </a:spcAft>
              <a:defRPr sz="1500">
                <a:solidFill>
                  <a:srgbClr val="B4B4B9"/>
                </a:solidFill>
                <a:latin typeface="맑은 고딕"/>
              </a:defRPr>
            </a:pPr>
            <a:r>
              <a:t>**Step 2. 로봇 투입**: Spot (진압팀) 및 Patrol Robot (구조팀) 동시 투입</a:t>
            </a:r>
          </a:p>
          <a:p>
            <a:pPr lvl="1">
              <a:spcAft>
                <a:spcPts val="1000"/>
              </a:spcAft>
              <a:defRPr sz="1500">
                <a:solidFill>
                  <a:srgbClr val="B4B4B9"/>
                </a:solidFill>
                <a:latin typeface="맑은 고딕"/>
              </a:defRPr>
            </a:pPr>
            <a:r>
              <a:t>**Step 3. 임무 수행**: 소화기 파지/투척 진압 및 객체 인식 기반 조난자 정렬</a:t>
            </a:r>
          </a:p>
          <a:p>
            <a:pPr lvl="1">
              <a:spcAft>
                <a:spcPts val="1000"/>
              </a:spcAft>
              <a:defRPr sz="1500">
                <a:solidFill>
                  <a:srgbClr val="B4B4B9"/>
                </a:solidFill>
                <a:latin typeface="맑은 고딕"/>
              </a:defRPr>
            </a:pPr>
            <a:r>
              <a:t>**Step 4. 호송 및 탈출**: 장애물 영역 회피 유도 및 출구(EXIT) 동시 동기 탈출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15: 시나리오 단계별 상세 스테이지 매핑</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**Stage 1 (스폰 &amp; 점화)**: 맵 로드, 통신 브릿지 가동, 10초 강제 점화 발생</a:t>
            </a:r>
          </a:p>
          <a:p>
            <a:pPr lvl="1">
              <a:spcAft>
                <a:spcPts val="1000"/>
              </a:spcAft>
              <a:defRPr sz="1500">
                <a:solidFill>
                  <a:srgbClr val="B4B4B9"/>
                </a:solidFill>
                <a:latin typeface="맑은 고딕"/>
              </a:defRPr>
            </a:pPr>
            <a:r>
              <a:t>**Stage 2 (임무이동 &amp; 순찰)**: robot1 소화기 방 이동, robot2 순환 순찰 루프</a:t>
            </a:r>
          </a:p>
          <a:p>
            <a:pPr lvl="1">
              <a:spcAft>
                <a:spcPts val="1000"/>
              </a:spcAft>
              <a:defRPr sz="1500">
                <a:solidFill>
                  <a:srgbClr val="B4B4B9"/>
                </a:solidFill>
                <a:latin typeface="맑은 고딕"/>
              </a:defRPr>
            </a:pPr>
            <a:r>
              <a:t>**Stage 3 (파지 &amp; 진압)**: Spot 다리 관절 고정 및 소화기 파지, 화점 투척 진압</a:t>
            </a:r>
          </a:p>
          <a:p>
            <a:pPr lvl="1">
              <a:spcAft>
                <a:spcPts val="1000"/>
              </a:spcAft>
              <a:defRPr sz="1500">
                <a:solidFill>
                  <a:srgbClr val="B4B4B9"/>
                </a:solidFill>
                <a:latin typeface="맑은 고딕"/>
              </a:defRPr>
            </a:pPr>
            <a:r>
              <a:t>**Stage 4 (인명탐지 &amp; 정렬)**: yolov8n 실시간 조난자 감지, 회전 정렬 및 근접 밀착</a:t>
            </a:r>
          </a:p>
          <a:p>
            <a:pPr lvl="1">
              <a:spcAft>
                <a:spcPts val="1000"/>
              </a:spcAft>
              <a:defRPr sz="1500">
                <a:solidFill>
                  <a:srgbClr val="B4B4B9"/>
                </a:solidFill>
                <a:latin typeface="맑은 고딕"/>
              </a:defRPr>
            </a:pPr>
            <a:r>
              <a:t>**Stage 5 (에스코트 &amp; 탈출)**: 조난자 충돌체 해제, 후방 동적 텔레포트, 출구 동시 탈출 완료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16: ROS 2 노드 플로우차트 (Topic/Service/Action 관계도)</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**`/robot1/navigate_to_pose` [Action]**: 로봇1 목적지 주행 명령</a:t>
            </a:r>
          </a:p>
          <a:p>
            <a:pPr lvl="1">
              <a:spcAft>
                <a:spcPts val="1000"/>
              </a:spcAft>
              <a:defRPr sz="1500">
                <a:solidFill>
                  <a:srgbClr val="B4B4B9"/>
                </a:solidFill>
                <a:latin typeface="맑은 고딕"/>
              </a:defRPr>
            </a:pPr>
            <a:r>
              <a:t>**`/robot2/navigate_to_pose` [Action]**: 로봇2 순찰 룸 이동 명령</a:t>
            </a:r>
          </a:p>
          <a:p>
            <a:pPr lvl="1">
              <a:spcAft>
                <a:spcPts val="1000"/>
              </a:spcAft>
              <a:defRPr sz="1500">
                <a:solidFill>
                  <a:srgbClr val="B4B4B9"/>
                </a:solidFill>
                <a:latin typeface="맑은 고딕"/>
              </a:defRPr>
            </a:pPr>
            <a:r>
              <a:t>**`/robot2/spin` [Action]**: 360도 회전 사각지대 해소</a:t>
            </a:r>
          </a:p>
          <a:p>
            <a:pPr lvl="1">
              <a:spcAft>
                <a:spcPts val="1000"/>
              </a:spcAft>
              <a:defRPr sz="1500">
                <a:solidFill>
                  <a:srgbClr val="B4B4B9"/>
                </a:solidFill>
                <a:latin typeface="맑은 고딕"/>
              </a:defRPr>
            </a:pPr>
            <a:r>
              <a:t>**`/tf` &amp; `/tf_static` [Topic]**: 좌표 브로드캐스터</a:t>
            </a:r>
          </a:p>
          <a:p>
            <a:pPr lvl="1">
              <a:spcAft>
                <a:spcPts val="1000"/>
              </a:spcAft>
              <a:defRPr sz="1500">
                <a:solidFill>
                  <a:srgbClr val="B4B4B9"/>
                </a:solidFill>
                <a:latin typeface="맑은 고딕"/>
              </a:defRPr>
            </a:pPr>
            <a:r>
              <a:t>**`/robot2/clear_costmap` [Service]**: 에스코트 시 Costmap 리셋 서비스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17: Simulation Map Environment (3D Layout)</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**USDZ 포맷 실내 맵**: 실제 가정집/오피스 환경을 모사한 3D 매시 모델링</a:t>
            </a:r>
          </a:p>
          <a:p>
            <a:pPr lvl="1">
              <a:spcAft>
                <a:spcPts val="1000"/>
              </a:spcAft>
              <a:defRPr sz="1500">
                <a:solidFill>
                  <a:srgbClr val="B4B4B9"/>
                </a:solidFill>
                <a:latin typeface="맑은 고딕"/>
              </a:defRPr>
            </a:pPr>
            <a:r>
              <a:t>**공간 구조**: 중앙 복도와 이를 둘러싼 5개의 독립된 구역(방) 및 탈출용 메인 출구</a:t>
            </a:r>
          </a:p>
          <a:p>
            <a:pPr lvl="1">
              <a:spcAft>
                <a:spcPts val="1000"/>
              </a:spcAft>
              <a:defRPr sz="1500">
                <a:solidFill>
                  <a:srgbClr val="B4B4B9"/>
                </a:solidFill>
                <a:latin typeface="맑은 고딕"/>
              </a:defRPr>
            </a:pPr>
            <a:r>
              <a:t>**좌표 기준점 (Origin)**: 시뮬레이션의 절대 원점 `(0, 0, 0)` 기준 설정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18: Props &amp; Assets Dynamic Placement</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**소화기 에셋 (Extinguisher)**: 중력과 속도에 반응하는 강체(Rigid Body) 설정</a:t>
            </a:r>
          </a:p>
          <a:p>
            <a:pPr lvl="1">
              <a:spcAft>
                <a:spcPts val="1000"/>
              </a:spcAft>
              <a:defRPr sz="1500">
                <a:solidFill>
                  <a:srgbClr val="B4B4B9"/>
                </a:solidFill>
                <a:latin typeface="맑은 고딕"/>
              </a:defRPr>
            </a:pPr>
            <a:r>
              <a:t>**화점 (Fire Emitter)**: 파티클 시스템 기반의 불꽃 형상 렌더링, 수명 및 확산 계수 설정</a:t>
            </a:r>
          </a:p>
          <a:p>
            <a:pPr lvl="1">
              <a:spcAft>
                <a:spcPts val="1000"/>
              </a:spcAft>
              <a:defRPr sz="1500">
                <a:solidFill>
                  <a:srgbClr val="B4B4B9"/>
                </a:solidFill>
                <a:latin typeface="맑은 고딕"/>
              </a:defRPr>
            </a:pPr>
            <a:r>
              <a:t>**조난자 에셋 (Person1, Person2)**: 탐지 가능 속성을 가진 인간 형상 메시, 런타임 콜리전 스위칭 지원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19: DDS Middleware Optimization</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**기본 DDS (FastDDS)의 한계**: 고해상도 RGB 이미지와 50Hz 이상의 고빈도 TF 트리가 혼재할 때, 네트워크 버퍼 오버플로우로 인한 제어 명령 유실 및 ROS 2 데드락 빈발</a:t>
            </a:r>
          </a:p>
          <a:p>
            <a:pPr lvl="1">
              <a:spcAft>
                <a:spcPts val="1000"/>
              </a:spcAft>
              <a:defRPr sz="1500">
                <a:solidFill>
                  <a:srgbClr val="B4B4B9"/>
                </a:solidFill>
                <a:latin typeface="맑은 고딕"/>
              </a:defRPr>
            </a:pPr>
            <a:r>
              <a:t>**선정 배경 (CycloneDDS)**:</a:t>
            </a:r>
          </a:p>
          <a:p>
            <a:pPr lvl="1">
              <a:spcAft>
                <a:spcPts val="1000"/>
              </a:spcAft>
              <a:defRPr sz="1500">
                <a:solidFill>
                  <a:srgbClr val="B4B4B9"/>
                </a:solidFill>
                <a:latin typeface="맑은 고딕"/>
              </a:defRPr>
            </a:pPr>
            <a:r>
              <a:t>멀티캐스트 패킷 손실에 대한 견고한 복구 매커니즘 내장</a:t>
            </a:r>
          </a:p>
          <a:p>
            <a:pPr lvl="1">
              <a:spcAft>
                <a:spcPts val="1000"/>
              </a:spcAft>
              <a:defRPr sz="1500">
                <a:solidFill>
                  <a:srgbClr val="B4B4B9"/>
                </a:solidFill>
                <a:latin typeface="맑은 고딕"/>
              </a:defRPr>
            </a:pPr>
            <a:r>
              <a:t>레이턴시 변동성(Jitter) 최소화로 고주파 closed-loop 제어 성능 극대화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20: Vision AI: YOLOv8n Integration</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**경량화 모델 사용**: `yolov8n.pt` (인명 탐지 특화, 파라미터 수 약 3.2M)</a:t>
            </a:r>
          </a:p>
          <a:p>
            <a:pPr lvl="1">
              <a:spcAft>
                <a:spcPts val="1000"/>
              </a:spcAft>
              <a:defRPr sz="1500">
                <a:solidFill>
                  <a:srgbClr val="B4B4B9"/>
                </a:solidFill>
                <a:latin typeface="맑은 고딕"/>
              </a:defRPr>
            </a:pPr>
            <a:r>
              <a:t>**임계값 튜닝**: `COBOT_YOLO_CONF = 0.35` (오탐율과 미탐율의 트레이드오프 고려 최적화)</a:t>
            </a:r>
          </a:p>
          <a:p>
            <a:pPr lvl="1">
              <a:spcAft>
                <a:spcPts val="1000"/>
              </a:spcAft>
              <a:defRPr sz="1500">
                <a:solidFill>
                  <a:srgbClr val="B4B4B9"/>
                </a:solidFill>
                <a:latin typeface="맑은 고딕"/>
              </a:defRPr>
            </a:pPr>
            <a:r>
              <a:t>**그리퍼 카메라 링크 마운트**: 로봇의 진행 방향뿐만 아니라 상하 각도 조절이 가능한 관절 연동 카메라 구성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21: Stage 1: 로봇 스폰 및 화재 자동 점화</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**런타임 시작 단계**: 다중 에이전트 생성 및 기초 물리 환경 활성화</a:t>
            </a:r>
          </a:p>
          <a:p>
            <a:pPr lvl="1">
              <a:spcAft>
                <a:spcPts val="1000"/>
              </a:spcAft>
              <a:defRPr sz="1500">
                <a:solidFill>
                  <a:srgbClr val="B4B4B9"/>
                </a:solidFill>
                <a:latin typeface="맑은 고딕"/>
              </a:defRPr>
            </a:pPr>
            <a:r>
              <a:t>**동작 가이드**: 10초 대기 타이머 감지 ➔ 주방 가스레인지 발화점 화재 emitter 구동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22: Stage 1 주요 기능: 에이전트 스폰 &amp; ROS2 브릿지</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**다중 네임스페이스 격리**: `robot1` (진압용 Spot), `robot2` (순찰용 바퀴형 로봇) 각각 독립 네임스페이스 부여</a:t>
            </a:r>
          </a:p>
          <a:p>
            <a:pPr lvl="1">
              <a:spcAft>
                <a:spcPts val="1000"/>
              </a:spcAft>
              <a:defRPr sz="1500">
                <a:solidFill>
                  <a:srgbClr val="B4B4B9"/>
                </a:solidFill>
                <a:latin typeface="맑은 고딕"/>
              </a:defRPr>
            </a:pPr>
            <a:r>
              <a:t>**양방향 브릿지 활성화**: `cmd_vel_udp_bridge.py` 및 `pose_file_to_ros_bridge.py`가 구동되어 고주파 제어 토크와 TF 트리 연동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23: Stage 1 주요 기능: 강제 점화 및 확산 타이머</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**OmniGraph 파티클 이미터**: 가상의 불꽃 이미터 속성을 동적으로 온/오프</a:t>
            </a:r>
          </a:p>
          <a:p>
            <a:pPr lvl="1">
              <a:spcAft>
                <a:spcPts val="1000"/>
              </a:spcAft>
              <a:defRPr sz="1500">
                <a:solidFill>
                  <a:srgbClr val="B4B4B9"/>
                </a:solidFill>
                <a:latin typeface="맑은 고딕"/>
              </a:defRPr>
            </a:pPr>
            <a:r>
              <a:t>**확산 파라미터 제어**: 시간 경과에 따른 불꽃 밀도 및 확산 속도 변수 제어 탑재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24: [Troubleshooting 1] 외부 USDZ 맵 로드 시 로봇 추락 해결</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외부에서 제작된 USDZ 실내 맵을 불러왔을 때, 시각적으로만 보일 뿐 바닥의 물리 충돌 속성이 누락되어 스폰 즉시 로봇들이 낙하하는 심각한 현상 발생</a:t>
            </a:r>
          </a:p>
          <a:p>
            <a:pPr lvl="1">
              <a:spcAft>
                <a:spcPts val="1000"/>
              </a:spcAft>
              <a:defRPr sz="1500">
                <a:solidFill>
                  <a:srgbClr val="B4B4B9"/>
                </a:solidFill>
                <a:latin typeface="맑은 고딕"/>
              </a:defRPr>
            </a:pPr>
            <a:r>
              <a:t>**해결책**: `env/environment.py` 내의 `apply_map_collisions` 함수를 수정하여, 로드 시점에 모든 하위 메시를 자동 탐색하여 런타임에 UsdPhysics 물리 API를 강제 적용 및 충돌 경계 생성 완료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25: [Troubleshooting 3-3] 맵 좌표계 및 Lidar TF 정밀 정렬</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시뮬레이션 절대 원점과 ROS 2 내에서 Nav2가 맵(Map) 프레임을 투영할 때 사용하는 로컬 원점 간의 미세 각도 및 Lidar TF 오프셋 오차로 인해, 주행 중 로봇이 미끄러지고 벽에 충돌하는 누적 오차 발생</a:t>
            </a:r>
          </a:p>
          <a:p>
            <a:pPr lvl="1">
              <a:spcAft>
                <a:spcPts val="1000"/>
              </a:spcAft>
              <a:defRPr sz="1500">
                <a:solidFill>
                  <a:srgbClr val="B4B4B9"/>
                </a:solidFill>
                <a:latin typeface="맑은 고딕"/>
              </a:defRPr>
            </a:pPr>
            <a:r>
              <a:t>**해결책**: 브릿지 스크립트 `pose_file_to_ros_bridge.py` 단에서 회전 쿼터니언 오프셋 역보정 필터를 연산에 탑재하여 오도메트리 좌표 동기화 오차 0% 실현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26: Stage 2: 에이전트 임무 분담 및 자율 주행 이동</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**자율 주행 분업 단계**: 로봇 2대가 독립적으로 목적지까지 회피 주행</a:t>
            </a:r>
          </a:p>
          <a:p>
            <a:pPr lvl="1">
              <a:spcAft>
                <a:spcPts val="1000"/>
              </a:spcAft>
              <a:defRPr sz="1500">
                <a:solidFill>
                  <a:srgbClr val="B4B4B9"/>
                </a:solidFill>
                <a:latin typeface="맑은 고딕"/>
              </a:defRPr>
            </a:pPr>
            <a:r>
              <a:t>**동작 분담**: robot1은 소화기가 위치한 방으로, robot2는 실내 5개 방 순환 감시 순찰 전개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27: Stage 2 주요 기능: robot1 소화기방 주행</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**자율 목적지 쿼리**: ROS 2 Action 기반 `NavigateToPose` 호출</a:t>
            </a:r>
          </a:p>
          <a:p>
            <a:pPr lvl="1">
              <a:spcAft>
                <a:spcPts val="1000"/>
              </a:spcAft>
              <a:defRPr sz="1500">
                <a:solidFill>
                  <a:srgbClr val="B4B4B9"/>
                </a:solidFill>
                <a:latin typeface="맑은 고딕"/>
              </a:defRPr>
            </a:pPr>
            <a:r>
              <a:t>**실시간 동적 조향**: 사족보행 로봇의 전진/회전 명령을 속도 벡터로 해석하여 실시간 장애물 회피 주행 수행</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28: Stage 2 주요 기능: robot2 순방향 자율 순찰</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**순환 순찰 루프**: `[5 ➔ 1 ➔ 3 ➔ 4 ➔ 6번방]` 순방향 경로 설계</a:t>
            </a:r>
          </a:p>
          <a:p>
            <a:pPr lvl="1">
              <a:spcAft>
                <a:spcPts val="1000"/>
              </a:spcAft>
              <a:defRPr sz="1500">
                <a:solidFill>
                  <a:srgbClr val="B4B4B9"/>
                </a:solidFill>
                <a:latin typeface="맑은 고딕"/>
              </a:defRPr>
            </a:pPr>
            <a:r>
              <a:t>**사각지대 소거**: 방 진입 성공 시 `NavigateToPose`를 잠시 정지하고 `Spin` 액션 서버를 통해 360도 회전하여 인명 탐색 사각지대 차단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29: [Troubleshooting 3-1] 좁은 문틈 통과 데드락 극복</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기본 설정된 Inflation Radius가 너무 커 좁은 방 문틀이나 코너를 돌 때 코스트맵 전체가 통행 금지 구역으로 채워져 경로 생성이 불가능해져 제자리에서 멈추는 에러</a:t>
            </a:r>
          </a:p>
          <a:p>
            <a:pPr lvl="1">
              <a:spcAft>
                <a:spcPts val="1000"/>
              </a:spcAft>
              <a:defRPr sz="1500">
                <a:solidFill>
                  <a:srgbClr val="B4B4B9"/>
                </a:solidFill>
                <a:latin typeface="맑은 고딕"/>
              </a:defRPr>
            </a:pPr>
            <a:r>
              <a:t>**해결책**: `robot1_nav2_params.yaml` 및 `robot2_nav2_params.yaml` 파일 내의 `inflation_radius`와 `cost_scaling_factor` 변수를 실내 문폭(0.8m)에 알맞도록 슬림하게 하향 조정하여 주행 복구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30: [Troubleshooting 4] 자율 이동 시 사족보행 모션 진동 억제</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Nav2의 급격한 회전 및 경로 수정 지시가 입력될 때, 시뮬레이터 속 Spot의 강화학습 보행 관절 제어가 이를 따라가지 못하고 심하게 기우뚱거리거나 미끄러져 다리 관절 모터가 파손되는 제어 흔들림 현상 발생</a:t>
            </a:r>
          </a:p>
          <a:p>
            <a:pPr lvl="1">
              <a:spcAft>
                <a:spcPts val="1000"/>
              </a:spcAft>
              <a:defRPr sz="1500">
                <a:solidFill>
                  <a:srgbClr val="B4B4B9"/>
                </a:solidFill>
                <a:latin typeface="맑은 고딕"/>
              </a:defRPr>
            </a:pPr>
            <a:r>
              <a:t>**해결책**: `applications/spot_agent.py` 내에 `_stable_drive_command` 함수를 이식하여 속도 가속도 한계를 억제하는 저역통과필터(LPF)로 제어파 보간 적용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31: Stage 3: 소화기 자동 파지 및 투척 진압</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**특수 임무 단계**: 정밀 기하학 궤적 제어 및 소화 물질 낙하 조준</a:t>
            </a:r>
          </a:p>
          <a:p>
            <a:pPr lvl="1">
              <a:spcAft>
                <a:spcPts val="1000"/>
              </a:spcAft>
              <a:defRPr sz="1500">
                <a:solidFill>
                  <a:srgbClr val="B4B4B9"/>
                </a:solidFill>
                <a:latin typeface="맑은 고딕"/>
              </a:defRPr>
            </a:pPr>
            <a:r>
              <a:t>**동작 시퀀스**: 그립 강성 보강 ➔ 소화기 파지 ➔ 화재 중심부 `(0.158, -4.084)` 근접 ➔ 급격한 팔 스윙 투척 ➔ 화재 완진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32: Stage 3 주요 기능: 소화기 Grasp 오버라이드</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**관절 강성 부스팅**: 파지 진입 순간 그리퍼 및 팔 조인트 강성(Stiffness)을 평소 대비 최대 `5000 / 250`으로 강제 격상</a:t>
            </a:r>
          </a:p>
          <a:p>
            <a:pPr lvl="1">
              <a:spcAft>
                <a:spcPts val="1000"/>
              </a:spcAft>
              <a:defRPr sz="1500">
                <a:solidFill>
                  <a:srgbClr val="B4B4B9"/>
                </a:solidFill>
                <a:latin typeface="맑은 고딕"/>
              </a:defRPr>
            </a:pPr>
            <a:r>
              <a:t>**하이브리드 상태 전환**: RL 보행 정책 통제 하에 있던 팔 조인트 각도를 Grasp 알고리즘 위치(`override_arm_angles`)로 강제 전환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33: Stage 3 주요 기능: 소화기 투척 및 화재 완진</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**자율 타겟팅 주행**: 소화기를 파지한 상태로 화점 앞 `(0.158, -4.084)` 좌표로 Nav2 경로 추종</a:t>
            </a:r>
          </a:p>
          <a:p>
            <a:pPr lvl="1">
              <a:spcAft>
                <a:spcPts val="1000"/>
              </a:spcAft>
              <a:defRPr sz="1500">
                <a:solidFill>
                  <a:srgbClr val="B4B4B9"/>
                </a:solidFill>
                <a:latin typeface="맑은 고딕"/>
              </a:defRPr>
            </a:pPr>
            <a:r>
              <a:t>**물리 투척 궤적**: 어깨 조인트를 전방 45도 방향으로 급속 가속한 뒤, 정점 프레임에서 파지 바인딩을 즉각 차단(Release)하여 낙하 궤적 생성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34: [Troubleshooting 2] 소화기 파지 중 로봇 몸체 전도 방지</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Spot 로봇이 소화기를 잡기 위해 팔을 앞으로 길게 뻗을 때, 4.5kg에 달하는 소화기 하중으로 무게 중심(CoG)이 전방 지지 경계를 이탈하여 RL 보행 제어가 전복되는 사태 발생</a:t>
            </a:r>
          </a:p>
          <a:p>
            <a:pPr lvl="1">
              <a:spcAft>
                <a:spcPts val="1000"/>
              </a:spcAft>
              <a:defRPr sz="1500">
                <a:solidFill>
                  <a:srgbClr val="B4B4B9"/>
                </a:solidFill>
                <a:latin typeface="맑은 고딕"/>
              </a:defRPr>
            </a:pPr>
            <a:r>
              <a:t>**해결책**: 파지 시퀀스 트리거 즉시 다리 조인트의 Stiffness를 2000으로 세팅하여 하체를 단단히 잠그는 `override_leg_freeze` 루틴을 가동하여 물리 지지력 확보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35: [Troubleshooting 3-2] 목표 근처 제자리 맴돌기 폭주 현상 해결</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소화기나 화점과 같은 정밀 구역에 0.1m 이내로 도달했을 때, 남은 미세 오차를 보정하려다 각속도 지시가 충돌하여 제자리에서 멈추지 않고 뱅글뱅글 맴도는 주행 루프 생성</a:t>
            </a:r>
          </a:p>
          <a:p>
            <a:pPr lvl="1">
              <a:spcAft>
                <a:spcPts val="1000"/>
              </a:spcAft>
              <a:defRPr sz="1500">
                <a:solidFill>
                  <a:srgbClr val="B4B4B9"/>
                </a:solidFill>
                <a:latin typeface="맑은 고딕"/>
              </a:defRPr>
            </a:pPr>
            <a:r>
              <a:t>**해결책**: 목표 0.15m 내 도달 시 자율 주행 태스크를 강제 성공 판정하고, 가상의 제동 장치(`idle_brake`)를 구동하여 제어 속도를 즉각 0으로 고정 후 팔 동작 명령으로 전환되도록 코드 조율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36: Stage 4: YOLOv8 인명 탐지 및 정렬/접근</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**인공지능 비전 정렬 단계**: YOLOv8 탐지와 P제어 조향 융합</a:t>
            </a:r>
          </a:p>
          <a:p>
            <a:pPr lvl="1">
              <a:spcAft>
                <a:spcPts val="1000"/>
              </a:spcAft>
              <a:defRPr sz="1500">
                <a:solidFill>
                  <a:srgbClr val="B4B4B9"/>
                </a:solidFill>
                <a:latin typeface="맑은 고딕"/>
              </a:defRPr>
            </a:pPr>
            <a:r>
              <a:t>**동작 시퀀스**: 순찰 자율 목표 즉시 캔슬 ➔ Heading Error 비례 각속도 인가 ➔ 정면 고정 후 전진 접근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37: Stage 4 주요 기능: YOLOv8 실시간 인명 검출</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**경량 딥러닝 탑재**: `yolov8n.pt`를 ROS 2 노드에 연동하여 저지연(25ms) 실시간 연산 보장</a:t>
            </a:r>
          </a:p>
          <a:p>
            <a:pPr lvl="1">
              <a:spcAft>
                <a:spcPts val="1000"/>
              </a:spcAft>
              <a:defRPr sz="1500">
                <a:solidFill>
                  <a:srgbClr val="B4B4B9"/>
                </a:solidFill>
                <a:latin typeface="맑은 고딕"/>
              </a:defRPr>
            </a:pPr>
            <a:r>
              <a:t>**인식 역치 설정**: `COBOT_YOLO_CONF = 0.35`로 튜닝하여 룸 내부의 조난자를 확실히 필터링</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38: Stage 4 주요 기능: 비전 비례제어 정렬 및 접근</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**각도 P 제어**: 바운딩 박스 오차 cx에 비례하여 제자리 회전 명령 인가</a:t>
            </a:r>
          </a:p>
          <a:p>
            <a:pPr lvl="1">
              <a:spcAft>
                <a:spcPts val="1000"/>
              </a:spcAft>
              <a:defRPr sz="1500">
                <a:solidFill>
                  <a:srgbClr val="B4B4B9"/>
                </a:solidFill>
                <a:latin typeface="맑은 고딕"/>
              </a:defRPr>
            </a:pPr>
            <a:r>
              <a:t>**정밀 정렬 및 진입**: 정렬각 오차 `heading_error &lt; 0.10 rad` 도달 시 직진 속도 인가 ➔ 목표 전방 1.15m 근방 안착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39: [Troubleshooting 6] 비전 센서 유실 극복 Fallback 시스템 구축</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YOLOv8로 사람은 감지했으나 센서 지연 등으로 인해 Depth Plane 데이터 수집이 지연되거나 NaN(Not a Number) 값이 쿼리되어 로봇이 멈추거나 코드가 뻗는 치명적 에러 발생</a:t>
            </a:r>
          </a:p>
          <a:p>
            <a:pPr lvl="1">
              <a:spcAft>
                <a:spcPts val="1000"/>
              </a:spcAft>
              <a:defRPr sz="1500">
                <a:solidFill>
                  <a:srgbClr val="B4B4B9"/>
                </a:solidFill>
                <a:latin typeface="맑은 고딕"/>
              </a:defRPr>
            </a:pPr>
            <a:r>
              <a:t>**해결책**: 거리 계산 에러 포착 즉시 시뮬레이터 물리 코어 단의 가상 레이캐스트 함수인 `_camera_raycast_person_detection`을 백업(Fallback)으로 호출하여 안정적으로 거리 갱신을 유지하도록 구조화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40: Stage 5: 에스코트 유도 및 출구 동시 안전 탈출</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**최종 탈출 제어 단계**: 에스코트 통행 장애 해결 및 두 로봇의 출구 집결</a:t>
            </a:r>
          </a:p>
          <a:p>
            <a:pPr lvl="1">
              <a:spcAft>
                <a:spcPts val="1000"/>
              </a:spcAft>
              <a:defRPr sz="1500">
                <a:solidFill>
                  <a:srgbClr val="B4B4B9"/>
                </a:solidFill>
                <a:latin typeface="맑은 고딕"/>
              </a:defRPr>
            </a:pPr>
            <a:r>
              <a:t>**목표**: `EXIT_POS` `(1.568, 20.041)`로 동기 탈출 후 타임라인 Pause 자동화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41: Stage 5 주요 기능: 충돌체 해제 &amp; Costmap 리셋</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**동적 콜리전 제거**: `_set_person2_collision_enabled(False)`를 통해 Lidar 스캔 광선 관통 처리</a:t>
            </a:r>
          </a:p>
          <a:p>
            <a:pPr lvl="1">
              <a:spcAft>
                <a:spcPts val="1000"/>
              </a:spcAft>
              <a:defRPr sz="1500">
                <a:solidFill>
                  <a:srgbClr val="B4B4B9"/>
                </a:solidFill>
                <a:latin typeface="맑은 고딕"/>
              </a:defRPr>
            </a:pPr>
            <a:r>
              <a:t>**코스트맵 강제 플러시**: `_clear_robot2_costmaps` 서비스 동적 호출을 통해 순간적으로 팽창된 cost를 삭제하여 자율 주행로 즉시 재개설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42: Stage 5 주요 기능: 조난자 동반 탈출 및 시뮬레이션 일시정지</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**후방 트래킹 유도**: `_follow_person2_behind_robot`을 돌려 조난자를 로봇 이동 궤적 후방 2.4m 지점에 지속 위치 갱신</a:t>
            </a:r>
          </a:p>
          <a:p>
            <a:pPr lvl="1">
              <a:spcAft>
                <a:spcPts val="1000"/>
              </a:spcAft>
              <a:defRPr sz="1500">
                <a:solidFill>
                  <a:srgbClr val="B4B4B9"/>
                </a:solidFill>
                <a:latin typeface="맑은 고딕"/>
              </a:defRPr>
            </a:pPr>
            <a:r>
              <a:t>**임무 완료 인터셉터**: 탈출 거리 임계치 이내 진입 시 속도 0 및 타임라인 자동 Pause 트리거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43: [Troubleshooting 5] 통신 지연에 따른 Nav2 액션 캔슬/재전송 루틴</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**문제 상황**: 3D 그래픽 파티클과 대용량 통신망이 동시에 도는 통합 런타임에서 순간 병목으로 Nav2 Goal Response가 유실되면 액션이 대기 상태(Deadlock)에 걸려 로봇 주행 중지</a:t>
            </a:r>
          </a:p>
          <a:p>
            <a:pPr lvl="1">
              <a:spcAft>
                <a:spcPts val="1000"/>
              </a:spcAft>
              <a:defRPr sz="1500">
                <a:solidFill>
                  <a:srgbClr val="B4B4B9"/>
                </a:solidFill>
                <a:latin typeface="맑은 고딕"/>
              </a:defRPr>
            </a:pPr>
            <a:r>
              <a:t>**해결책**: `robot2_room_patrol.py`에 `_nav_goal_retry` 비동기 상태 체크 스레드를 구성. 8초간 완료 상태 피드백이 오지 않을 경우 기존 액션을 강제 취소 후 재전송하여 생존성 확보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44: 프로젝트 시연: 통합 시나리오 구동 영상</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**진압 시나리오 (Stage 1~2)**: Isaac Sim 로봇 스폰 ➔ 수동/자율 주행 및 라이다 매핑 ➔ Spot 로봇 팔 제어 오버라이드 및 소화기 파지/투척 진압</a:t>
            </a:r>
          </a:p>
          <a:p>
            <a:pPr lvl="1">
              <a:spcAft>
                <a:spcPts val="1000"/>
              </a:spcAft>
              <a:defRPr sz="1500">
                <a:solidFill>
                  <a:srgbClr val="B4B4B9"/>
                </a:solidFill>
                <a:latin typeface="맑은 고딕"/>
              </a:defRPr>
            </a:pPr>
            <a:r>
              <a:t>**구조 시나리오 (Stage 4~5)**: YOLOv8 실시간 조난자 감지 ➔ 정렬 및 접근 ➔ 에스코트 유도(장애물 팽창 회피 및 Costmap 초기화) ➔ 출구 동시 안전 탈출 완료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45: 자체 평가의견: 기술적 개선점 및 향후 로드맵</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**기술적 개선점 (Technical Improvements)**:</a:t>
            </a:r>
          </a:p>
          <a:p>
            <a:pPr lvl="1">
              <a:spcAft>
                <a:spcPts val="1000"/>
              </a:spcAft>
              <a:defRPr sz="1500">
                <a:solidFill>
                  <a:srgbClr val="B4B4B9"/>
                </a:solidFill>
                <a:latin typeface="맑은 고딕"/>
              </a:defRPr>
            </a:pPr>
            <a:r>
              <a:t>*물리 마찰*: 소화기 릴리즈 시 그리퍼 잔여 마찰력을 zero로 동적 API 변환하여 투척 정확도 보장 필요</a:t>
            </a:r>
          </a:p>
          <a:p>
            <a:pPr lvl="1">
              <a:spcAft>
                <a:spcPts val="1000"/>
              </a:spcAft>
              <a:defRPr sz="1500">
                <a:solidFill>
                  <a:srgbClr val="B4B4B9"/>
                </a:solidFill>
                <a:latin typeface="맑은 고딕"/>
              </a:defRPr>
            </a:pPr>
            <a:r>
              <a:t>*라이다 간섭*: 화염 연기 파티클의 센서 난반사 오차를 제거하기 위한 Kalman Filter 통신 보완</a:t>
            </a:r>
          </a:p>
          <a:p>
            <a:pPr lvl="1">
              <a:spcAft>
                <a:spcPts val="1000"/>
              </a:spcAft>
              <a:defRPr sz="1500">
                <a:solidFill>
                  <a:srgbClr val="B4B4B9"/>
                </a:solidFill>
                <a:latin typeface="맑은 고딕"/>
              </a:defRPr>
            </a:pPr>
            <a:r>
              <a:t>*질량 적응 RL*: 중량물 파지 보행 시 도메인 랜더마이징(Domain Randomization)을 반영한 하이퍼 파라미터 재학습</a:t>
            </a:r>
          </a:p>
          <a:p>
            <a:pPr lvl="1">
              <a:spcAft>
                <a:spcPts val="1000"/>
              </a:spcAft>
              <a:defRPr sz="1500">
                <a:solidFill>
                  <a:srgbClr val="B4B4B9"/>
                </a:solidFill>
                <a:latin typeface="맑은 고딕"/>
              </a:defRPr>
            </a:pPr>
            <a:r>
              <a:t>*동기화*: 시뮬레이터-ROS2 간 비동기 레이턴시 방지를 위해 Real-Time 커널 및 HIL 도입 검토</a:t>
            </a:r>
          </a:p>
          <a:p>
            <a:pPr lvl="1">
              <a:spcAft>
                <a:spcPts val="1000"/>
              </a:spcAft>
              <a:defRPr sz="1500">
                <a:solidFill>
                  <a:srgbClr val="B4B4B9"/>
                </a:solidFill>
                <a:latin typeface="맑은 고딕"/>
              </a:defRPr>
            </a:pPr>
            <a:r>
              <a:t>**차후 발전 방향 (Future Roadmap)**:</a:t>
            </a:r>
          </a:p>
          <a:p>
            <a:pPr lvl="1">
              <a:spcAft>
                <a:spcPts val="1000"/>
              </a:spcAft>
              <a:defRPr sz="1500">
                <a:solidFill>
                  <a:srgbClr val="B4B4B9"/>
                </a:solidFill>
                <a:latin typeface="맑은 고딕"/>
              </a:defRPr>
            </a:pPr>
            <a:r>
              <a:t>*1단계 Sim-to-Real*: 검증된 Nav2 및 YOLOv8 가중치를 실물 사족보행 로봇(Spot)에 포팅 및 실물 실증</a:t>
            </a:r>
          </a:p>
          <a:p>
            <a:pPr lvl="1">
              <a:spcAft>
                <a:spcPts val="1000"/>
              </a:spcAft>
              <a:defRPr sz="1500">
                <a:solidFill>
                  <a:srgbClr val="B4B4B9"/>
                </a:solidFill>
                <a:latin typeface="맑은 고딕"/>
              </a:defRPr>
            </a:pPr>
            <a:r>
              <a:t>*2단계 MARL*: 고정 룰 기반 분업에서 다중 협동 강화학습 기반의 지능형 역할 동적 배분</a:t>
            </a:r>
          </a:p>
          <a:p>
            <a:pPr lvl="1">
              <a:spcAft>
                <a:spcPts val="1000"/>
              </a:spcAft>
              <a:defRPr sz="1500">
                <a:solidFill>
                  <a:srgbClr val="B4B4B9"/>
                </a:solidFill>
                <a:latin typeface="맑은 고딕"/>
              </a:defRPr>
            </a:pPr>
            <a:r>
              <a:t>*3단계 클라우드*: 5G 기반 중앙 재난 상황 관제 대시보드 연동 시각화</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46: 자체 평가의견: 성과 및 한계 (Well-Done &amp; Limitations)</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**Well-Done (잘한 점)**:</a:t>
            </a:r>
          </a:p>
          <a:p>
            <a:pPr lvl="1">
              <a:spcAft>
                <a:spcPts val="1000"/>
              </a:spcAft>
              <a:defRPr sz="1500">
                <a:solidFill>
                  <a:srgbClr val="B4B4B9"/>
                </a:solidFill>
                <a:latin typeface="맑은 고딕"/>
              </a:defRPr>
            </a:pPr>
            <a:r>
              <a:t>*완전 자동화*: 인간의 개입을 배제한 로봇 2대의 시나리오 100% 자율 완수</a:t>
            </a:r>
          </a:p>
          <a:p>
            <a:pPr lvl="1">
              <a:spcAft>
                <a:spcPts val="1000"/>
              </a:spcAft>
              <a:defRPr sz="1500">
                <a:solidFill>
                  <a:srgbClr val="B4B4B9"/>
                </a:solidFill>
                <a:latin typeface="맑은 고딕"/>
              </a:defRPr>
            </a:pPr>
            <a:r>
              <a:t>*결함 돌파*: DDS 병목, RL 전복, 좌표 오차 등 8대 난제를 코딩으로 극복</a:t>
            </a:r>
          </a:p>
          <a:p>
            <a:pPr lvl="1">
              <a:spcAft>
                <a:spcPts val="1000"/>
              </a:spcAft>
              <a:defRPr sz="1500">
                <a:solidFill>
                  <a:srgbClr val="B4B4B9"/>
                </a:solidFill>
                <a:latin typeface="맑은 고딕"/>
              </a:defRPr>
            </a:pPr>
            <a:r>
              <a:t>*문서화 기여*: 시스템 아키텍처 및 상세 설계를 8대 Mermaid 다이어그램으로 완비</a:t>
            </a:r>
          </a:p>
          <a:p>
            <a:pPr lvl="1">
              <a:spcAft>
                <a:spcPts val="1000"/>
              </a:spcAft>
              <a:defRPr sz="1500">
                <a:solidFill>
                  <a:srgbClr val="B4B4B9"/>
                </a:solidFill>
                <a:latin typeface="맑은 고딕"/>
              </a:defRPr>
            </a:pPr>
            <a:r>
              <a:t>**Limitations (아쉬웠던 점)**:</a:t>
            </a:r>
          </a:p>
          <a:p>
            <a:pPr lvl="1">
              <a:spcAft>
                <a:spcPts val="1000"/>
              </a:spcAft>
              <a:defRPr sz="1500">
                <a:solidFill>
                  <a:srgbClr val="B4B4B9"/>
                </a:solidFill>
                <a:latin typeface="맑은 고딕"/>
              </a:defRPr>
            </a:pPr>
            <a:r>
              <a:t>*상태 진단 누락*: 조난자 단순 식별 외 화상/의식 여부 등 정밀 진료(Triage) 부재</a:t>
            </a:r>
          </a:p>
          <a:p>
            <a:pPr lvl="1">
              <a:spcAft>
                <a:spcPts val="1000"/>
              </a:spcAft>
              <a:defRPr sz="1500">
                <a:solidFill>
                  <a:srgbClr val="B4B4B9"/>
                </a:solidFill>
                <a:latin typeface="맑은 고딕"/>
              </a:defRPr>
            </a:pPr>
            <a:r>
              <a:t>*동적 경로 지연*: 화재 확산 점을 실시간 장애물 맵핑하는 연산 속도의 소폭 저하</a:t>
            </a:r>
          </a:p>
          <a:p>
            <a:pPr lvl="1">
              <a:spcAft>
                <a:spcPts val="1000"/>
              </a:spcAft>
              <a:defRPr sz="1500">
                <a:solidFill>
                  <a:srgbClr val="B4B4B9"/>
                </a:solidFill>
                <a:latin typeface="맑은 고딕"/>
              </a:defRPr>
            </a:pPr>
            <a:r>
              <a:t>*단일 의존성*: 소화기 스폰 개수가 1개여서 투척 실패 시 대안이 없는 단일 실패점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1E"/>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lIns="0" tIns="0" rIns="0" bIns="0">
            <a:spAutoFit/>
          </a:bodyPr>
          <a:lstStyle/>
          <a:p>
            <a:pPr>
              <a:defRPr sz="2800" b="1">
                <a:solidFill>
                  <a:srgbClr val="FF6B6B"/>
                </a:solidFill>
                <a:latin typeface="맑은 고딕"/>
              </a:defRPr>
            </a:pPr>
            <a:r>
              <a:t>Slide 47: Q &amp; A</a:t>
            </a:r>
          </a:p>
        </p:txBody>
      </p:sp>
      <p:sp>
        <p:nvSpPr>
          <p:cNvPr id="3" name="TextBox 2"/>
          <p:cNvSpPr txBox="1"/>
          <p:nvPr/>
        </p:nvSpPr>
        <p:spPr>
          <a:xfrm>
            <a:off x="914400" y="2011680"/>
            <a:ext cx="10362895" cy="4114800"/>
          </a:xfrm>
          <a:prstGeom prst="rect">
            <a:avLst/>
          </a:prstGeom>
          <a:noFill/>
        </p:spPr>
        <p:txBody>
          <a:bodyPr wrap="square" lIns="0" tIns="0" rIns="0" bIns="0">
            <a:spAutoFit/>
          </a:bodyPr>
          <a:lstStyle/>
          <a:p>
            <a:pPr lvl="1">
              <a:spcAft>
                <a:spcPts val="1000"/>
              </a:spcAft>
              <a:defRPr sz="1500">
                <a:solidFill>
                  <a:srgbClr val="B4B4B9"/>
                </a:solidFill>
                <a:latin typeface="맑은 고딕"/>
              </a:defRPr>
            </a:pPr>
            <a:r>
              <a:t>**GitHub**: `https://github.com/yoonseonjae/hot-spot_isaac_sim`</a:t>
            </a:r>
          </a:p>
          <a:p>
            <a:pPr lvl="1">
              <a:spcAft>
                <a:spcPts val="1000"/>
              </a:spcAft>
              <a:defRPr sz="1500">
                <a:solidFill>
                  <a:srgbClr val="B4B4B9"/>
                </a:solidFill>
                <a:latin typeface="맑은 고딕"/>
              </a:defRPr>
            </a:pPr>
            <a:r>
              <a:t>**Q &amp; A**: 질문이 있으시면 성실히 답변해 드리겠습니다.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